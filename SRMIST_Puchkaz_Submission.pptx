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9" r:id="rId6"/>
    <p:sldId id="261" r:id="rId7"/>
    <p:sldId id="271" r:id="rId8"/>
    <p:sldId id="272" r:id="rId9"/>
    <p:sldId id="262" r:id="rId10"/>
    <p:sldId id="263" r:id="rId11"/>
    <p:sldId id="264" r:id="rId12"/>
    <p:sldId id="265" r:id="rId13"/>
    <p:sldId id="266" r:id="rId14"/>
    <p:sldId id="270" r:id="rId15"/>
    <p:sldId id="267" r:id="rId16"/>
  </p:sldIdLst>
  <p:sldSz cx="12192000" cy="6858000"/>
  <p:notesSz cx="6858000" cy="12192000"/>
  <p:embeddedFontLst>
    <p:embeddedFont>
      <p:font typeface="Inter" panose="020B0604020202020204" charset="0"/>
      <p:regular r:id="rId18"/>
    </p:embeddedFont>
    <p:embeddedFont>
      <p:font typeface="Inter Bold" panose="020B0604020202020204" charset="0"/>
      <p:regular r:id="rId19"/>
    </p:embeddedFont>
    <p:embeddedFont>
      <p:font typeface="Inter SemiBold" panose="020B0604020202020204" charset="0"/>
      <p:regular r:id="rId20"/>
    </p:embeddedFont>
    <p:embeddedFont>
      <p:font typeface="Poppins Bold"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53"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2321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Closing slide. Add the Google Form URL and a contact email before sharing. Edition 2 </a:t>
            </a:r>
            <a:r>
              <a:rPr lang="en-US" dirty="0" err="1"/>
              <a:t>organising</a:t>
            </a:r>
            <a:r>
              <a:rPr lang="en-US" dirty="0"/>
              <a:t> team for reference: Language AI - Sourabh Tiwari, Gaurav, Sanjeeth </a:t>
            </a:r>
            <a:r>
              <a:rPr lang="en-US" dirty="0" err="1"/>
              <a:t>Pothireddy</a:t>
            </a:r>
            <a:r>
              <a:rPr lang="en-US" dirty="0"/>
              <a:t>, </a:t>
            </a:r>
            <a:r>
              <a:rPr lang="en-US" dirty="0" err="1"/>
              <a:t>Gorang</a:t>
            </a:r>
            <a:r>
              <a:rPr lang="en-US" dirty="0"/>
              <a:t> Maniar; PRISM - Binny Lakra, Prakhar </a:t>
            </a:r>
            <a:r>
              <a:rPr lang="en-US" dirty="0" err="1"/>
              <a:t>Chandrakar</a:t>
            </a:r>
            <a:r>
              <a:rPr lang="en-US" dirty="0"/>
              <a:t>, Vishu Kumar; Kick-off and mentors - Giridhar Jakki, </a:t>
            </a:r>
            <a:r>
              <a:rPr lang="en-US" dirty="0" err="1"/>
              <a:t>Deepraj</a:t>
            </a:r>
            <a:r>
              <a:rPr lang="en-US" dirty="0"/>
              <a:t> Prabhakar Patkar (Language AI), </a:t>
            </a:r>
            <a:r>
              <a:rPr lang="en-US" dirty="0" err="1"/>
              <a:t>Srimanu</a:t>
            </a:r>
            <a:r>
              <a:rPr lang="en-US" dirty="0"/>
              <a:t> Prasad Nagaraju, Ashish Kumar (Tech Strategy).</a:t>
            </a:r>
            <a:endParaRPr dirty="0"/>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0"/>
            <a:ext cx="12191695" cy="6858000"/>
          </a:xfrm>
          <a:prstGeom prst="rect">
            <a:avLst/>
          </a:prstGeom>
          <a:solidFill>
            <a:srgbClr val="E9EBF5"/>
          </a:solidFill>
          <a:ln/>
        </p:spPr>
      </p:sp>
      <p:pic>
        <p:nvPicPr>
          <p:cNvPr id="5"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87315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mailto:pa6535@srmist.edu.in" TargetMode="External"/><Relationship Id="rId7" Type="http://schemas.openxmlformats.org/officeDocument/2006/relationships/hyperlink" Target="https://github.com/IneshAg/SRMIST_Puchkaz_Prism_GenA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vv2394@srmist.edu.in" TargetMode="External"/><Relationship Id="rId5" Type="http://schemas.openxmlformats.org/officeDocument/2006/relationships/hyperlink" Target="mailto:ia6861@srmist.edu.in" TargetMode="External"/><Relationship Id="rId4" Type="http://schemas.openxmlformats.org/officeDocument/2006/relationships/hyperlink" Target="mailto:dg5502@srmist.edu.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file/d/1_ooCOpjRS2G8lOtwKyPkBSGQNYcRL5gH/view?usp=shari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mailto:pa6535@srmist.edu.in"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docs.google.com/forms/d/e/1FAIpQLSd_WWF7mnEVUWV3eC-Ptc2PKeJ5Mt_422EknsfShKo_l1y3Og/viewform?edit2=2_ABaOnuenWDHxGAclXChZSHLoFlyEr9ohm8_h64DtXlPx3xwWv59VGoTGP7rUkO6eeZiLAV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429001"/>
            <a:ext cx="7147560" cy="777240"/>
          </a:xfrm>
          <a:prstGeom prst="rect">
            <a:avLst/>
          </a:prstGeom>
          <a:noFill/>
          <a:ln>
            <a:noFill/>
          </a:ln>
        </p:spPr>
        <p:txBody>
          <a:bodyPr spcFirstLastPara="1" wrap="square" lIns="0" tIns="0" rIns="0" bIns="0" anchor="t" anchorCtr="0">
            <a:noAutofit/>
          </a:bodyPr>
          <a:lstStyle/>
          <a:p>
            <a:pPr lvl="0"/>
            <a:r>
              <a:rPr lang="en-IN" sz="1600" dirty="0"/>
              <a:t>Theme ID - 02 – Smart Guided Troubleshooting Engine</a:t>
            </a:r>
          </a:p>
          <a:p>
            <a:pPr lvl="0"/>
            <a:r>
              <a:rPr lang="en-IN" sz="1600" dirty="0"/>
              <a:t>Team Name – </a:t>
            </a:r>
            <a:r>
              <a:rPr lang="en-IN" sz="1600" dirty="0" err="1"/>
              <a:t>SRMIST_Puchkaz</a:t>
            </a:r>
            <a:endParaRPr lang="en-IN" sz="1600" dirty="0"/>
          </a:p>
          <a:p>
            <a:pPr lvl="0"/>
            <a:r>
              <a:rPr lang="en-IN" sz="1600" dirty="0"/>
              <a:t>College Name – SRMIST, KTR</a:t>
            </a:r>
          </a:p>
          <a:p>
            <a:pPr lvl="0"/>
            <a:endParaRPr lang="en-IN" sz="1600" dirty="0"/>
          </a:p>
          <a:p>
            <a:pPr lvl="0"/>
            <a:r>
              <a:rPr lang="en-IN" sz="1600" dirty="0"/>
              <a:t>Member Name &amp; Email 1- PRISHA AGARWAL – </a:t>
            </a:r>
            <a:r>
              <a:rPr lang="en-IN" sz="1600" dirty="0">
                <a:hlinkClick r:id="rId3"/>
              </a:rPr>
              <a:t>pa6535@srmist.edu.in</a:t>
            </a:r>
            <a:r>
              <a:rPr lang="en-IN" sz="1600" dirty="0"/>
              <a:t> </a:t>
            </a:r>
          </a:p>
          <a:p>
            <a:pPr lvl="0"/>
            <a:r>
              <a:rPr lang="en-IN" sz="1600" dirty="0"/>
              <a:t>Member Name &amp; Email 2- DAKSH GUPTA - </a:t>
            </a:r>
            <a:r>
              <a:rPr lang="en-IN" sz="1600" dirty="0">
                <a:hlinkClick r:id="rId4"/>
              </a:rPr>
              <a:t>dg5502@srmist.edu.in</a:t>
            </a:r>
            <a:r>
              <a:rPr lang="en-IN" sz="1600" dirty="0"/>
              <a:t> </a:t>
            </a:r>
          </a:p>
          <a:p>
            <a:pPr lvl="0"/>
            <a:r>
              <a:rPr lang="en-IN" sz="1600" dirty="0"/>
              <a:t>Member Name &amp; Email 3- INESH AGARWAL - </a:t>
            </a:r>
            <a:r>
              <a:rPr lang="en-IN" sz="1600" dirty="0">
                <a:hlinkClick r:id="rId5"/>
              </a:rPr>
              <a:t>ia6861@srmist.edu.in</a:t>
            </a:r>
            <a:r>
              <a:rPr lang="en-IN" sz="1600" dirty="0"/>
              <a:t> </a:t>
            </a:r>
          </a:p>
          <a:p>
            <a:pPr lvl="0"/>
            <a:r>
              <a:rPr lang="en-IN" sz="1600" dirty="0"/>
              <a:t>Member Name &amp; Email 4- V DHRUV - </a:t>
            </a:r>
            <a:r>
              <a:rPr lang="en-IN" sz="1600" dirty="0">
                <a:hlinkClick r:id="rId6"/>
              </a:rPr>
              <a:t>vv2394@srmist.edu.in</a:t>
            </a:r>
            <a:r>
              <a:rPr lang="en-IN" sz="1600" dirty="0"/>
              <a:t> </a:t>
            </a:r>
          </a:p>
          <a:p>
            <a:pPr lvl="0"/>
            <a:endParaRPr lang="en-IN" sz="1600" dirty="0"/>
          </a:p>
          <a:p>
            <a:pPr lvl="0"/>
            <a:r>
              <a:rPr lang="en-IN" sz="1600" dirty="0"/>
              <a:t>Submission </a:t>
            </a:r>
            <a:r>
              <a:rPr lang="en-IN" sz="1600" dirty="0" err="1"/>
              <a:t>Github</a:t>
            </a:r>
            <a:r>
              <a:rPr lang="en-IN" sz="1600" dirty="0"/>
              <a:t> link - </a:t>
            </a:r>
            <a:r>
              <a:rPr lang="en-IN" sz="1600" dirty="0">
                <a:hlinkClick r:id="rId7"/>
              </a:rPr>
              <a:t>https://github.com/IneshAg/SRMIST_Puchkaz_Prism_GenAI</a:t>
            </a:r>
            <a:endParaRPr lang="en-IN" sz="1600" dirty="0"/>
          </a:p>
        </p:txBody>
      </p:sp>
      <p:pic>
        <p:nvPicPr>
          <p:cNvPr id="96" name="Google Shape;96;p1" descr="hero_network.png"/>
          <p:cNvPicPr preferRelativeResize="0"/>
          <p:nvPr/>
        </p:nvPicPr>
        <p:blipFill rotWithShape="1">
          <a:blip r:embed="rId8">
            <a:alphaModFix/>
          </a:blip>
          <a:srcRect/>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862336"/>
          </a:xfrm>
          <a:prstGeom prst="rect">
            <a:avLst/>
          </a:prstGeom>
          <a:solidFill>
            <a:srgbClr val="E9EBF5"/>
          </a:solidFill>
          <a:ln/>
        </p:spPr>
      </p:sp>
      <p:sp>
        <p:nvSpPr>
          <p:cNvPr id="3" name="Text 1"/>
          <p:cNvSpPr/>
          <p:nvPr/>
        </p:nvSpPr>
        <p:spPr>
          <a:xfrm>
            <a:off x="533387" y="304800"/>
            <a:ext cx="11124922" cy="1097161"/>
          </a:xfrm>
          <a:prstGeom prst="rect">
            <a:avLst/>
          </a:prstGeom>
          <a:noFill/>
          <a:ln/>
        </p:spPr>
        <p:txBody>
          <a:bodyPr wrap="square" lIns="0" tIns="0" rIns="0" bIns="0" rtlCol="0" anchor="t">
            <a:normAutofit lnSpcReduction="10000"/>
          </a:bodyPr>
          <a:lstStyle/>
          <a:p>
            <a:pPr marL="0" indent="0" algn="l">
              <a:lnSpc>
                <a:spcPct val="90000"/>
              </a:lnSpc>
              <a:buNone/>
            </a:pPr>
            <a:r>
              <a:rPr lang="en-US" sz="4000" b="1" dirty="0">
                <a:solidFill>
                  <a:srgbClr val="704EA6"/>
                </a:solidFill>
                <a:latin typeface="Poppins Bold" pitchFamily="34" charset="0"/>
                <a:ea typeface="Poppins Bold" pitchFamily="34" charset="-122"/>
                <a:cs typeface="Poppins Bold" pitchFamily="34" charset="-120"/>
              </a:rPr>
              <a:t>Theme - </a:t>
            </a:r>
            <a:r>
              <a:rPr lang="en-US" sz="4000" b="1" dirty="0">
                <a:solidFill>
                  <a:srgbClr val="000000"/>
                </a:solidFill>
                <a:latin typeface="Poppins Bold" pitchFamily="34" charset="0"/>
                <a:ea typeface="Poppins Bold" pitchFamily="34" charset="-122"/>
                <a:cs typeface="Poppins Bold" pitchFamily="34" charset="-120"/>
              </a:rPr>
              <a:t>Smart Guided Troubleshooting Engine</a:t>
            </a:r>
            <a:endParaRPr lang="en-US" sz="4000" dirty="0"/>
          </a:p>
        </p:txBody>
      </p:sp>
      <p:sp>
        <p:nvSpPr>
          <p:cNvPr id="4" name="Shape 2"/>
          <p:cNvSpPr/>
          <p:nvPr/>
        </p:nvSpPr>
        <p:spPr>
          <a:xfrm>
            <a:off x="533387" y="1679773"/>
            <a:ext cx="3671200" cy="31651"/>
          </a:xfrm>
          <a:prstGeom prst="roundRect">
            <a:avLst>
              <a:gd name="adj" fmla="val 49998"/>
            </a:avLst>
          </a:prstGeom>
          <a:solidFill>
            <a:srgbClr val="704EA6"/>
          </a:solidFill>
          <a:ln/>
        </p:spPr>
      </p:sp>
      <p:sp>
        <p:nvSpPr>
          <p:cNvPr id="5" name="Shape 3"/>
          <p:cNvSpPr/>
          <p:nvPr/>
        </p:nvSpPr>
        <p:spPr>
          <a:xfrm>
            <a:off x="533387" y="2116237"/>
            <a:ext cx="5486263" cy="4436963"/>
          </a:xfrm>
          <a:prstGeom prst="rect">
            <a:avLst/>
          </a:prstGeom>
          <a:solidFill>
            <a:srgbClr val="E3DCEF"/>
          </a:solidFill>
          <a:ln/>
        </p:spPr>
      </p:sp>
      <p:sp>
        <p:nvSpPr>
          <p:cNvPr id="6" name="Text 4"/>
          <p:cNvSpPr/>
          <p:nvPr/>
        </p:nvSpPr>
        <p:spPr>
          <a:xfrm>
            <a:off x="761981" y="2344837"/>
            <a:ext cx="5029074" cy="329109"/>
          </a:xfrm>
          <a:prstGeom prst="rect">
            <a:avLst/>
          </a:prstGeom>
          <a:noFill/>
          <a:ln/>
        </p:spPr>
        <p:txBody>
          <a:bodyPr wrap="none" lIns="0" tIns="0" rIns="0" bIns="0" rtlCol="0" anchor="t"/>
          <a:lstStyle/>
          <a:p>
            <a:pPr marL="0" indent="0" algn="l">
              <a:lnSpc>
                <a:spcPct val="90000"/>
              </a:lnSpc>
              <a:buNone/>
            </a:pPr>
            <a:r>
              <a:rPr lang="en-US" sz="2400" b="1" dirty="0">
                <a:solidFill>
                  <a:srgbClr val="000000"/>
                </a:solidFill>
                <a:latin typeface="Poppins Bold" pitchFamily="34" charset="0"/>
                <a:ea typeface="Poppins Bold" pitchFamily="34" charset="-122"/>
                <a:cs typeface="Poppins Bold" pitchFamily="34" charset="-120"/>
              </a:rPr>
              <a:t>Problem</a:t>
            </a:r>
            <a:endParaRPr lang="en-US" sz="2400" dirty="0"/>
          </a:p>
        </p:txBody>
      </p:sp>
      <p:sp>
        <p:nvSpPr>
          <p:cNvPr id="7" name="Text 5"/>
          <p:cNvSpPr/>
          <p:nvPr/>
        </p:nvSpPr>
        <p:spPr>
          <a:xfrm>
            <a:off x="761981" y="2902545"/>
            <a:ext cx="5029074" cy="2166342"/>
          </a:xfrm>
          <a:prstGeom prst="rect">
            <a:avLst/>
          </a:prstGeom>
          <a:noFill/>
          <a:ln/>
        </p:spPr>
        <p:txBody>
          <a:bodyPr wrap="square" lIns="0" tIns="0" rIns="0" bIns="0" rtlCol="0" anchor="t">
            <a:normAutofit/>
          </a:bodyPr>
          <a:lstStyle/>
          <a:p>
            <a:pPr marL="325120" indent="-325120" algn="l">
              <a:lnSpc>
                <a:spcPct val="90000"/>
              </a:lnSpc>
              <a:buSzPct val="100000"/>
              <a:buChar char="•"/>
            </a:pPr>
            <a:r>
              <a:rPr lang="en-US" sz="1600" dirty="0">
                <a:solidFill>
                  <a:srgbClr val="000000"/>
                </a:solidFill>
                <a:latin typeface="Inter" pitchFamily="34" charset="0"/>
                <a:ea typeface="Inter" pitchFamily="34" charset="-122"/>
                <a:cs typeface="Inter" pitchFamily="34" charset="-120"/>
              </a:rPr>
              <a:t>Customers describe device problems in highly variable language:</a:t>
            </a:r>
            <a:endParaRPr lang="en-US" sz="1600" dirty="0"/>
          </a:p>
          <a:p>
            <a:pPr marL="325120" indent="-325120" algn="l">
              <a:lnSpc>
                <a:spcPct val="90000"/>
              </a:lnSpc>
              <a:buSzPct val="100000"/>
              <a:buChar char="•"/>
            </a:pPr>
            <a:r>
              <a:rPr lang="en-US" sz="1600" dirty="0">
                <a:solidFill>
                  <a:srgbClr val="000000"/>
                </a:solidFill>
                <a:latin typeface="Inter" pitchFamily="34" charset="0"/>
                <a:ea typeface="Inter" pitchFamily="34" charset="-122"/>
                <a:cs typeface="Inter" pitchFamily="34" charset="-120"/>
              </a:rPr>
              <a:t>Formal descriptions </a:t>
            </a:r>
            <a:endParaRPr lang="en-US" sz="1600" dirty="0"/>
          </a:p>
          <a:p>
            <a:pPr marL="325120" indent="-325120" algn="l">
              <a:lnSpc>
                <a:spcPct val="90000"/>
              </a:lnSpc>
              <a:buSzPct val="100000"/>
              <a:buChar char="•"/>
            </a:pPr>
            <a:r>
              <a:rPr lang="en-US" sz="1600" dirty="0">
                <a:solidFill>
                  <a:srgbClr val="000000"/>
                </a:solidFill>
                <a:latin typeface="Inter" pitchFamily="34" charset="0"/>
                <a:ea typeface="Inter" pitchFamily="34" charset="-122"/>
                <a:cs typeface="Inter" pitchFamily="34" charset="-120"/>
              </a:rPr>
              <a:t>Short keyword queries </a:t>
            </a:r>
            <a:endParaRPr lang="en-US" sz="1600" dirty="0"/>
          </a:p>
          <a:p>
            <a:pPr marL="325120" indent="-325120" algn="l">
              <a:lnSpc>
                <a:spcPct val="90000"/>
              </a:lnSpc>
              <a:buSzPct val="100000"/>
              <a:buChar char="•"/>
            </a:pPr>
            <a:r>
              <a:rPr lang="en-US" sz="1600" dirty="0">
                <a:solidFill>
                  <a:srgbClr val="000000"/>
                </a:solidFill>
                <a:latin typeface="Inter" pitchFamily="34" charset="0"/>
                <a:ea typeface="Inter" pitchFamily="34" charset="-122"/>
                <a:cs typeface="Inter" pitchFamily="34" charset="-120"/>
              </a:rPr>
              <a:t>Casual/frustrated language </a:t>
            </a:r>
            <a:endParaRPr lang="en-US" sz="1600" dirty="0"/>
          </a:p>
          <a:p>
            <a:pPr marL="325120" indent="-325120" algn="l">
              <a:lnSpc>
                <a:spcPct val="90000"/>
              </a:lnSpc>
              <a:buSzPct val="100000"/>
              <a:buChar char="•"/>
            </a:pPr>
            <a:r>
              <a:rPr lang="en-US" sz="1600" dirty="0">
                <a:solidFill>
                  <a:srgbClr val="000000"/>
                </a:solidFill>
                <a:latin typeface="Inter" pitchFamily="34" charset="0"/>
                <a:ea typeface="Inter" pitchFamily="34" charset="-122"/>
                <a:cs typeface="Inter" pitchFamily="34" charset="-120"/>
              </a:rPr>
              <a:t>Typos and misspellings </a:t>
            </a:r>
            <a:endParaRPr lang="en-US" sz="1600" dirty="0"/>
          </a:p>
          <a:p>
            <a:pPr marL="325120" indent="-325120" algn="l">
              <a:lnSpc>
                <a:spcPct val="90000"/>
              </a:lnSpc>
              <a:buSzPct val="100000"/>
              <a:buChar char="•"/>
            </a:pPr>
            <a:r>
              <a:rPr lang="en-US" sz="1600" dirty="0">
                <a:solidFill>
                  <a:srgbClr val="000000"/>
                </a:solidFill>
                <a:latin typeface="Inter" pitchFamily="34" charset="0"/>
                <a:ea typeface="Inter" pitchFamily="34" charset="-122"/>
                <a:cs typeface="Inter" pitchFamily="34" charset="-120"/>
              </a:rPr>
              <a:t>Different device models </a:t>
            </a:r>
            <a:endParaRPr lang="en-US" sz="1600" dirty="0"/>
          </a:p>
          <a:p>
            <a:pPr marL="325120" indent="-325120" algn="l">
              <a:lnSpc>
                <a:spcPct val="90000"/>
              </a:lnSpc>
              <a:buSzPct val="100000"/>
              <a:buChar char="•"/>
            </a:pPr>
            <a:r>
              <a:rPr lang="en-US" sz="1600" dirty="0">
                <a:solidFill>
                  <a:srgbClr val="000000"/>
                </a:solidFill>
                <a:latin typeface="Inter" pitchFamily="34" charset="0"/>
                <a:ea typeface="Inter" pitchFamily="34" charset="-122"/>
                <a:cs typeface="Inter" pitchFamily="34" charset="-120"/>
              </a:rPr>
              <a:t>Different ways of describing the same symptom </a:t>
            </a:r>
            <a:endParaRPr lang="en-US" sz="1600" dirty="0"/>
          </a:p>
        </p:txBody>
      </p:sp>
      <p:sp>
        <p:nvSpPr>
          <p:cNvPr id="8" name="Shape 6"/>
          <p:cNvSpPr/>
          <p:nvPr/>
        </p:nvSpPr>
        <p:spPr>
          <a:xfrm>
            <a:off x="6172046" y="2116237"/>
            <a:ext cx="5486263" cy="4436963"/>
          </a:xfrm>
          <a:prstGeom prst="rect">
            <a:avLst/>
          </a:prstGeom>
          <a:noFill/>
          <a:ln w="25399">
            <a:solidFill>
              <a:srgbClr val="C9C2D5"/>
            </a:solidFill>
            <a:prstDash val="solid"/>
          </a:ln>
        </p:spPr>
      </p:sp>
      <p:sp>
        <p:nvSpPr>
          <p:cNvPr id="9" name="Text 7"/>
          <p:cNvSpPr/>
          <p:nvPr/>
        </p:nvSpPr>
        <p:spPr>
          <a:xfrm>
            <a:off x="6426039" y="2370237"/>
            <a:ext cx="4978275" cy="329109"/>
          </a:xfrm>
          <a:prstGeom prst="rect">
            <a:avLst/>
          </a:prstGeom>
          <a:noFill/>
          <a:ln/>
        </p:spPr>
        <p:txBody>
          <a:bodyPr wrap="none" lIns="0" tIns="0" rIns="0" bIns="0" rtlCol="0" anchor="t"/>
          <a:lstStyle/>
          <a:p>
            <a:pPr marL="0" indent="0" algn="l">
              <a:lnSpc>
                <a:spcPct val="90000"/>
              </a:lnSpc>
              <a:buNone/>
            </a:pPr>
            <a:r>
              <a:rPr lang="en-US" sz="2400" b="1" dirty="0">
                <a:solidFill>
                  <a:srgbClr val="000000"/>
                </a:solidFill>
                <a:latin typeface="Poppins Bold" pitchFamily="34" charset="0"/>
                <a:ea typeface="Poppins Bold" pitchFamily="34" charset="-122"/>
                <a:cs typeface="Poppins Bold" pitchFamily="34" charset="-120"/>
              </a:rPr>
              <a:t>Example</a:t>
            </a:r>
            <a:endParaRPr lang="en-US" sz="2400" dirty="0"/>
          </a:p>
        </p:txBody>
      </p:sp>
      <p:sp>
        <p:nvSpPr>
          <p:cNvPr id="10" name="Text 8"/>
          <p:cNvSpPr/>
          <p:nvPr/>
        </p:nvSpPr>
        <p:spPr>
          <a:xfrm>
            <a:off x="6730832" y="2927945"/>
            <a:ext cx="4673483" cy="438745"/>
          </a:xfrm>
          <a:prstGeom prst="rect">
            <a:avLst/>
          </a:prstGeom>
          <a:noFill/>
          <a:ln/>
        </p:spPr>
        <p:txBody>
          <a:bodyPr wrap="square" lIns="0" tIns="0" rIns="0" bIns="0" rtlCol="0" anchor="t">
            <a:normAutofit lnSpcReduction="10000"/>
          </a:bodyPr>
          <a:lstStyle/>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“The mobile phone screen is cracked and flashes intermittently.”</a:t>
            </a:r>
            <a:endParaRPr lang="en-US" sz="1600" dirty="0"/>
          </a:p>
        </p:txBody>
      </p:sp>
      <p:sp>
        <p:nvSpPr>
          <p:cNvPr id="11" name="Shape 9"/>
          <p:cNvSpPr/>
          <p:nvPr/>
        </p:nvSpPr>
        <p:spPr>
          <a:xfrm>
            <a:off x="6426039" y="2927945"/>
            <a:ext cx="28574" cy="438745"/>
          </a:xfrm>
          <a:prstGeom prst="roundRect">
            <a:avLst>
              <a:gd name="adj" fmla="val 50000"/>
            </a:avLst>
          </a:prstGeom>
          <a:solidFill>
            <a:srgbClr val="704EA6"/>
          </a:solidFill>
          <a:ln/>
        </p:spPr>
      </p:sp>
      <p:sp>
        <p:nvSpPr>
          <p:cNvPr id="12" name="Text 10"/>
          <p:cNvSpPr/>
          <p:nvPr/>
        </p:nvSpPr>
        <p:spPr>
          <a:xfrm>
            <a:off x="6426039" y="3595291"/>
            <a:ext cx="4978275" cy="877491"/>
          </a:xfrm>
          <a:prstGeom prst="rect">
            <a:avLst/>
          </a:prstGeom>
          <a:noFill/>
          <a:ln/>
        </p:spPr>
        <p:txBody>
          <a:bodyPr wrap="square" lIns="0" tIns="0" rIns="0" bIns="0" rtlCol="0" anchor="t">
            <a:normAutofit lnSpcReduction="10000"/>
          </a:bodyPr>
          <a:lstStyle/>
          <a:p>
            <a:pPr marL="0" indent="0" algn="l">
              <a:lnSpc>
                <a:spcPct val="90000"/>
              </a:lnSpc>
              <a:buNone/>
            </a:pPr>
            <a:r>
              <a:rPr lang="en-US" sz="1600" dirty="0">
                <a:solidFill>
                  <a:srgbClr val="000000"/>
                </a:solidFill>
                <a:latin typeface="Inter" pitchFamily="34" charset="0"/>
                <a:ea typeface="Inter" pitchFamily="34" charset="-122"/>
                <a:cs typeface="Inter" pitchFamily="34" charset="-120"/>
              </a:rPr>
              <a:t>The system needs to understand that this refers to a </a:t>
            </a:r>
            <a:r>
              <a:rPr lang="en-US" sz="1600" b="1" dirty="0">
                <a:solidFill>
                  <a:srgbClr val="000000"/>
                </a:solidFill>
                <a:latin typeface="Inter Bold" pitchFamily="34" charset="0"/>
                <a:ea typeface="Inter Bold" pitchFamily="34" charset="-122"/>
                <a:cs typeface="Inter Bold" pitchFamily="34" charset="-120"/>
              </a:rPr>
              <a:t>screen/display issue</a:t>
            </a:r>
            <a:r>
              <a:rPr lang="en-US" sz="1600" dirty="0">
                <a:solidFill>
                  <a:srgbClr val="000000"/>
                </a:solidFill>
                <a:latin typeface="Inter" pitchFamily="34" charset="0"/>
                <a:ea typeface="Inter" pitchFamily="34" charset="-122"/>
                <a:cs typeface="Inter" pitchFamily="34" charset="-120"/>
              </a:rPr>
              <a:t>, identify the relevant troubleshooting procedure, and return structured actions.</a:t>
            </a:r>
            <a:endParaRPr lang="en-US" sz="1600" dirty="0"/>
          </a:p>
        </p:txBody>
      </p:sp>
      <p:sp>
        <p:nvSpPr>
          <p:cNvPr id="13" name="Text 11"/>
          <p:cNvSpPr/>
          <p:nvPr/>
        </p:nvSpPr>
        <p:spPr>
          <a:xfrm>
            <a:off x="6426039" y="4929981"/>
            <a:ext cx="4978275" cy="329109"/>
          </a:xfrm>
          <a:prstGeom prst="rect">
            <a:avLst/>
          </a:prstGeom>
          <a:noFill/>
          <a:ln/>
        </p:spPr>
        <p:txBody>
          <a:bodyPr wrap="none" lIns="0" tIns="0" rIns="0" bIns="0" rtlCol="0" anchor="t"/>
          <a:lstStyle/>
          <a:p>
            <a:pPr marL="0" indent="0" algn="l">
              <a:lnSpc>
                <a:spcPct val="90000"/>
              </a:lnSpc>
              <a:buNone/>
            </a:pPr>
            <a:r>
              <a:rPr lang="en-US" sz="2400" b="1" dirty="0">
                <a:solidFill>
                  <a:srgbClr val="000000"/>
                </a:solidFill>
                <a:latin typeface="Poppins Bold" pitchFamily="34" charset="0"/>
                <a:ea typeface="Poppins Bold" pitchFamily="34" charset="-122"/>
                <a:cs typeface="Poppins Bold" pitchFamily="34" charset="-120"/>
              </a:rPr>
              <a:t>Core challenge</a:t>
            </a:r>
            <a:endParaRPr lang="en-US" sz="2400" dirty="0"/>
          </a:p>
        </p:txBody>
      </p:sp>
      <p:sp>
        <p:nvSpPr>
          <p:cNvPr id="14" name="Text 12"/>
          <p:cNvSpPr/>
          <p:nvPr/>
        </p:nvSpPr>
        <p:spPr>
          <a:xfrm>
            <a:off x="6426039" y="5487690"/>
            <a:ext cx="4978275" cy="438745"/>
          </a:xfrm>
          <a:prstGeom prst="rect">
            <a:avLst/>
          </a:prstGeom>
          <a:noFill/>
          <a:ln/>
        </p:spPr>
        <p:txBody>
          <a:bodyPr wrap="square" lIns="0" tIns="0" rIns="0" bIns="0" rtlCol="0" anchor="t">
            <a:normAutofit lnSpcReduction="10000"/>
          </a:bodyPr>
          <a:lstStyle/>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Raw complaint → Understand intent → Find relevant solution → Return actionable steps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313755"/>
          </a:xfrm>
          <a:prstGeom prst="rect">
            <a:avLst/>
          </a:prstGeom>
          <a:solidFill>
            <a:srgbClr val="E9EBF5"/>
          </a:solidFill>
          <a:ln/>
        </p:spPr>
      </p:sp>
      <p:sp>
        <p:nvSpPr>
          <p:cNvPr id="3" name="Text 1"/>
          <p:cNvSpPr/>
          <p:nvPr/>
        </p:nvSpPr>
        <p:spPr>
          <a:xfrm>
            <a:off x="533387" y="304800"/>
            <a:ext cx="11124922" cy="548580"/>
          </a:xfrm>
          <a:prstGeom prst="rect">
            <a:avLst/>
          </a:prstGeom>
          <a:noFill/>
          <a:ln/>
        </p:spPr>
        <p:txBody>
          <a:bodyPr wrap="none" lIns="0" tIns="0" rIns="0" bIns="0" rtlCol="0" anchor="t"/>
          <a:lstStyle/>
          <a:p>
            <a:pPr marL="0" indent="0" algn="l">
              <a:lnSpc>
                <a:spcPct val="90000"/>
              </a:lnSpc>
              <a:buNone/>
            </a:pPr>
            <a:r>
              <a:rPr lang="en-US" sz="4000" b="1" dirty="0">
                <a:solidFill>
                  <a:srgbClr val="704EA6"/>
                </a:solidFill>
                <a:latin typeface="Poppins Bold" pitchFamily="34" charset="0"/>
                <a:ea typeface="Poppins Bold" pitchFamily="34" charset="-122"/>
                <a:cs typeface="Poppins Bold" pitchFamily="34" charset="-120"/>
              </a:rPr>
              <a:t>Existing Solutions &amp; Gaps</a:t>
            </a:r>
            <a:endParaRPr lang="en-US" sz="4000" dirty="0"/>
          </a:p>
        </p:txBody>
      </p:sp>
      <p:sp>
        <p:nvSpPr>
          <p:cNvPr id="4" name="Shape 2"/>
          <p:cNvSpPr/>
          <p:nvPr/>
        </p:nvSpPr>
        <p:spPr>
          <a:xfrm>
            <a:off x="533387" y="1131193"/>
            <a:ext cx="3671200" cy="31651"/>
          </a:xfrm>
          <a:prstGeom prst="roundRect">
            <a:avLst>
              <a:gd name="adj" fmla="val 49998"/>
            </a:avLst>
          </a:prstGeom>
          <a:solidFill>
            <a:srgbClr val="704EA6"/>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33387" y="1567755"/>
          <a:ext cx="11124922" cy="3413736"/>
        </p:xfrm>
        <a:graphic>
          <a:graphicData uri="http://schemas.openxmlformats.org/drawingml/2006/table">
            <a:tbl>
              <a:tblPr/>
              <a:tblGrid>
                <a:gridCol w="5562461">
                  <a:extLst>
                    <a:ext uri="{9D8B030D-6E8A-4147-A177-3AD203B41FA5}">
                      <a16:colId xmlns:a16="http://schemas.microsoft.com/office/drawing/2014/main" val="20000"/>
                    </a:ext>
                  </a:extLst>
                </a:gridCol>
                <a:gridCol w="5562461">
                  <a:extLst>
                    <a:ext uri="{9D8B030D-6E8A-4147-A177-3AD203B41FA5}">
                      <a16:colId xmlns:a16="http://schemas.microsoft.com/office/drawing/2014/main" val="20001"/>
                    </a:ext>
                  </a:extLst>
                </a:gridCol>
              </a:tblGrid>
              <a:tr h="394583">
                <a:tc>
                  <a:txBody>
                    <a:bodyPr/>
                    <a:lstStyle/>
                    <a:p>
                      <a:pPr marL="0" indent="0" algn="l">
                        <a:buNone/>
                      </a:pPr>
                      <a:r>
                        <a:rPr lang="en-US" sz="1600" b="1" dirty="0">
                          <a:solidFill>
                            <a:srgbClr val="000000"/>
                          </a:solidFill>
                          <a:latin typeface="Inter" pitchFamily="34" charset="0"/>
                          <a:ea typeface="Inter" pitchFamily="34" charset="-122"/>
                          <a:cs typeface="Inter" pitchFamily="34" charset="-120"/>
                        </a:rPr>
                        <a:t>EXISTING APPROACH</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tc>
                  <a:txBody>
                    <a:bodyPr/>
                    <a:lstStyle/>
                    <a:p>
                      <a:pPr marL="0" indent="0" algn="l">
                        <a:buNone/>
                      </a:pPr>
                      <a:r>
                        <a:rPr lang="en-US" sz="1600" b="1" dirty="0">
                          <a:solidFill>
                            <a:srgbClr val="000000"/>
                          </a:solidFill>
                          <a:latin typeface="Inter" pitchFamily="34" charset="0"/>
                          <a:ea typeface="Inter" pitchFamily="34" charset="-122"/>
                          <a:cs typeface="Inter" pitchFamily="34" charset="-120"/>
                        </a:rPr>
                        <a:t>Gap</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613950">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Human agent reading SIIS/KB</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About 15 min per case, inconsistent, doesn't scale to millions of interactions</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613950">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Static FAQ / keyword search</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Breaks on colloquial or typo-heavy phrasing; returns articles, not plans</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613950">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Plain LLM chatbot</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Hallucinates steps, injects generic help URLs, alters deeplinks, slow and costly on every call</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613950">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Exact-string caching</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Paraphrases miss the cache, so latency and cost stay high</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81883">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Prompt-only constraints</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tc>
                  <a:txBody>
                    <a:bodyPr/>
                    <a:lstStyle/>
                    <a:p>
                      <a:pPr marL="0" indent="0" algn="l">
                        <a:buNone/>
                      </a:pPr>
                      <a:r>
                        <a:rPr lang="en-US" sz="1600" dirty="0">
                          <a:solidFill>
                            <a:srgbClr val="000000"/>
                          </a:solidFill>
                          <a:latin typeface="Inter" pitchFamily="34" charset="0"/>
                          <a:ea typeface="Inter" pitchFamily="34" charset="-122"/>
                          <a:cs typeface="Inter" pitchFamily="34" charset="-120"/>
                        </a:rPr>
                        <a:t>Word limits and format rules aren't reliably followed</a:t>
                      </a:r>
                      <a:endParaRPr lang="en-US" sz="1600" dirty="0">
                        <a:latin typeface="Inter" charset="0"/>
                        <a:ea typeface="Inter" charset="0"/>
                        <a:cs typeface="Inter" charset="0"/>
                      </a:endParaRPr>
                    </a:p>
                  </a:txBody>
                  <a:tcPr marL="152396" marR="152396" marT="81278" marB="81278" anchor="ctr">
                    <a:lnL w="12700" cap="flat" cmpd="sng" algn="ctr">
                      <a:solidFill>
                        <a:srgbClr val="C9C2D5"/>
                      </a:solidFill>
                      <a:prstDash val="solid"/>
                      <a:round/>
                      <a:headEnd type="none" w="med" len="med"/>
                      <a:tailEnd type="none" w="med" len="med"/>
                    </a:lnL>
                    <a:lnR w="12700" cap="flat" cmpd="sng" algn="ctr">
                      <a:solidFill>
                        <a:srgbClr val="C9C2D5"/>
                      </a:solidFill>
                      <a:prstDash val="solid"/>
                      <a:round/>
                      <a:headEnd type="none" w="med" len="med"/>
                      <a:tailEnd type="none" w="med" len="med"/>
                    </a:lnR>
                    <a:lnT w="12700" cap="flat" cmpd="sng" algn="ctr">
                      <a:solidFill>
                        <a:srgbClr val="C9C2D5"/>
                      </a:solidFill>
                      <a:prstDash val="solid"/>
                      <a:round/>
                      <a:headEnd type="none" w="med" len="med"/>
                      <a:tailEnd type="none" w="med" len="med"/>
                    </a:lnT>
                    <a:lnB w="12700" cap="flat" cmpd="sng" algn="ctr">
                      <a:solidFill>
                        <a:srgbClr val="C9C2D5"/>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bl>
          </a:graphicData>
        </a:graphic>
      </p:graphicFrame>
      <p:sp>
        <p:nvSpPr>
          <p:cNvPr id="6" name="Shape 3"/>
          <p:cNvSpPr/>
          <p:nvPr/>
        </p:nvSpPr>
        <p:spPr>
          <a:xfrm>
            <a:off x="533387" y="5606455"/>
            <a:ext cx="11124922" cy="946745"/>
          </a:xfrm>
          <a:prstGeom prst="roundRect">
            <a:avLst>
              <a:gd name="adj" fmla="val 9014"/>
            </a:avLst>
          </a:prstGeom>
          <a:solidFill>
            <a:srgbClr val="B6D6FC"/>
          </a:solidFill>
          <a:ln/>
        </p:spPr>
      </p:sp>
      <p:sp>
        <p:nvSpPr>
          <p:cNvPr id="7" name="Text 4"/>
          <p:cNvSpPr/>
          <p:nvPr/>
        </p:nvSpPr>
        <p:spPr>
          <a:xfrm>
            <a:off x="736582" y="5860455"/>
            <a:ext cx="10718532" cy="438745"/>
          </a:xfrm>
          <a:prstGeom prst="rect">
            <a:avLst/>
          </a:prstGeom>
          <a:noFill/>
          <a:ln/>
        </p:spPr>
        <p:txBody>
          <a:bodyPr wrap="square" lIns="0" tIns="0" rIns="0" bIns="0" rtlCol="0" anchor="t">
            <a:normAutofit lnSpcReduction="10000"/>
          </a:bodyPr>
          <a:lstStyle/>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Takeaway:</a:t>
            </a:r>
            <a:r>
              <a:rPr lang="en-US" sz="1600" dirty="0">
                <a:solidFill>
                  <a:srgbClr val="000000"/>
                </a:solidFill>
                <a:latin typeface="Inter" pitchFamily="34" charset="0"/>
                <a:ea typeface="Inter" pitchFamily="34" charset="-122"/>
                <a:cs typeface="Inter" pitchFamily="34" charset="-120"/>
              </a:rPr>
              <a:t> A fast, grounded, verifiable system needs programmatic guardrails around the LLM, not just a better prompt.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313755"/>
          </a:xfrm>
          <a:prstGeom prst="rect">
            <a:avLst/>
          </a:prstGeom>
          <a:solidFill>
            <a:srgbClr val="E9EBF5"/>
          </a:solidFill>
          <a:ln/>
        </p:spPr>
      </p:sp>
      <p:sp>
        <p:nvSpPr>
          <p:cNvPr id="3" name="Text 1"/>
          <p:cNvSpPr/>
          <p:nvPr/>
        </p:nvSpPr>
        <p:spPr>
          <a:xfrm>
            <a:off x="533387" y="304800"/>
            <a:ext cx="11124922" cy="548580"/>
          </a:xfrm>
          <a:prstGeom prst="rect">
            <a:avLst/>
          </a:prstGeom>
          <a:noFill/>
          <a:ln/>
        </p:spPr>
        <p:txBody>
          <a:bodyPr wrap="none" lIns="0" tIns="0" rIns="0" bIns="0" rtlCol="0" anchor="t"/>
          <a:lstStyle/>
          <a:p>
            <a:pPr marL="0" indent="0" algn="l">
              <a:lnSpc>
                <a:spcPct val="90000"/>
              </a:lnSpc>
              <a:buNone/>
            </a:pPr>
            <a:r>
              <a:rPr lang="en-US" sz="4000" b="1" dirty="0">
                <a:solidFill>
                  <a:srgbClr val="704EA6"/>
                </a:solidFill>
                <a:latin typeface="Poppins Bold" pitchFamily="34" charset="0"/>
                <a:ea typeface="Poppins Bold" pitchFamily="34" charset="-122"/>
                <a:cs typeface="Poppins Bold" pitchFamily="34" charset="-120"/>
              </a:rPr>
              <a:t>Our Solutions &amp; Architecture Diagram</a:t>
            </a:r>
            <a:endParaRPr lang="en-US" sz="4000" dirty="0"/>
          </a:p>
        </p:txBody>
      </p:sp>
      <p:sp>
        <p:nvSpPr>
          <p:cNvPr id="4" name="Shape 2"/>
          <p:cNvSpPr/>
          <p:nvPr/>
        </p:nvSpPr>
        <p:spPr>
          <a:xfrm>
            <a:off x="533387" y="1131193"/>
            <a:ext cx="3671200" cy="31651"/>
          </a:xfrm>
          <a:prstGeom prst="roundRect">
            <a:avLst>
              <a:gd name="adj" fmla="val 49998"/>
            </a:avLst>
          </a:prstGeom>
          <a:solidFill>
            <a:srgbClr val="704EA6"/>
          </a:solidFill>
          <a:ln/>
        </p:spPr>
      </p:sp>
      <p:sp>
        <p:nvSpPr>
          <p:cNvPr id="5" name="Shape 3"/>
          <p:cNvSpPr/>
          <p:nvPr/>
        </p:nvSpPr>
        <p:spPr>
          <a:xfrm>
            <a:off x="533387" y="1567755"/>
            <a:ext cx="5486263" cy="4985445"/>
          </a:xfrm>
          <a:prstGeom prst="rect">
            <a:avLst/>
          </a:prstGeom>
          <a:solidFill>
            <a:srgbClr val="E3DCEF"/>
          </a:solidFill>
          <a:ln/>
        </p:spPr>
      </p:sp>
      <p:sp>
        <p:nvSpPr>
          <p:cNvPr id="6" name="Text 4"/>
          <p:cNvSpPr/>
          <p:nvPr/>
        </p:nvSpPr>
        <p:spPr>
          <a:xfrm>
            <a:off x="736582" y="1770955"/>
            <a:ext cx="5283068" cy="219373"/>
          </a:xfrm>
          <a:prstGeom prst="rect">
            <a:avLst/>
          </a:prstGeom>
          <a:noFill/>
          <a:ln/>
        </p:spPr>
        <p:txBody>
          <a:bodyPr wrap="none" lIns="0" tIns="0" rIns="0" bIns="0" rtlCol="0" anchor="t"/>
          <a:lstStyle/>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Pipeline</a:t>
            </a:r>
            <a:r>
              <a:rPr lang="en-US" sz="1600" dirty="0">
                <a:solidFill>
                  <a:srgbClr val="000000"/>
                </a:solidFill>
                <a:latin typeface="Inter" pitchFamily="34" charset="0"/>
                <a:ea typeface="Inter" pitchFamily="34" charset="-122"/>
                <a:cs typeface="Inter" pitchFamily="34" charset="-120"/>
              </a:rPr>
              <a:t> (POST /v1/troubleshoot):</a:t>
            </a:r>
            <a:endParaRPr lang="en-US" sz="1600" dirty="0"/>
          </a:p>
        </p:txBody>
      </p:sp>
      <p:sp>
        <p:nvSpPr>
          <p:cNvPr id="7" name="Text 5"/>
          <p:cNvSpPr/>
          <p:nvPr/>
        </p:nvSpPr>
        <p:spPr>
          <a:xfrm>
            <a:off x="736582" y="2218928"/>
            <a:ext cx="5079873" cy="3208338"/>
          </a:xfrm>
          <a:prstGeom prst="rect">
            <a:avLst/>
          </a:prstGeom>
          <a:noFill/>
          <a:ln/>
        </p:spPr>
        <p:txBody>
          <a:bodyPr wrap="square" lIns="0" tIns="0" rIns="0" bIns="0" rtlCol="0" anchor="t">
            <a:normAutofit/>
          </a:bodyPr>
          <a:lstStyle/>
          <a:p>
            <a:pPr marL="325120" indent="-325120" algn="l">
              <a:lnSpc>
                <a:spcPct val="90000"/>
              </a:lnSpc>
              <a:buSzPct val="100000"/>
              <a:buFont typeface="+mj-lt"/>
              <a:buAutoNum type="arabicPeriod"/>
            </a:pPr>
            <a:r>
              <a:rPr lang="en-US" sz="1600" b="1" dirty="0">
                <a:solidFill>
                  <a:srgbClr val="000000"/>
                </a:solidFill>
                <a:latin typeface="Inter Bold" pitchFamily="34" charset="0"/>
                <a:ea typeface="Inter Bold" pitchFamily="34" charset="-122"/>
                <a:cs typeface="Inter Bold" pitchFamily="34" charset="-120"/>
              </a:rPr>
              <a:t>Stage 0, Query Enrichment:</a:t>
            </a:r>
            <a:r>
              <a:rPr lang="en-US" sz="1600" dirty="0">
                <a:solidFill>
                  <a:srgbClr val="000000"/>
                </a:solidFill>
                <a:latin typeface="Inter" pitchFamily="34" charset="0"/>
                <a:ea typeface="Inter" pitchFamily="34" charset="-122"/>
                <a:cs typeface="Inter" pitchFamily="34" charset="-120"/>
              </a:rPr>
              <a:t> extracts the device with regex, then matches a 35-category symptom taxonomy. This normalizes the text into a canonical query and produces 8–10 paraphrases (formal, casual, keyword, frustrated, typo). It also produces a confidence score. An optional guarded LLM fallback runs only when nothing matches.</a:t>
            </a:r>
            <a:endParaRPr lang="en-US" sz="1600" dirty="0"/>
          </a:p>
          <a:p>
            <a:pPr marL="325120" indent="-325120" algn="l">
              <a:lnSpc>
                <a:spcPct val="90000"/>
              </a:lnSpc>
              <a:buSzPct val="100000"/>
              <a:buFont typeface="+mj-lt"/>
              <a:buAutoNum type="arabicPeriod" startAt="2"/>
            </a:pPr>
            <a:r>
              <a:rPr lang="en-US" sz="1600" b="1" dirty="0">
                <a:solidFill>
                  <a:srgbClr val="000000"/>
                </a:solidFill>
                <a:latin typeface="Inter Bold" pitchFamily="34" charset="0"/>
                <a:ea typeface="Inter Bold" pitchFamily="34" charset="-122"/>
                <a:cs typeface="Inter Bold" pitchFamily="34" charset="-120"/>
              </a:rPr>
              <a:t>Semantic Cache check (Stage 3):</a:t>
            </a:r>
            <a:r>
              <a:rPr lang="en-US" sz="1600" dirty="0">
                <a:solidFill>
                  <a:srgbClr val="000000"/>
                </a:solidFill>
                <a:latin typeface="Inter" pitchFamily="34" charset="0"/>
                <a:ea typeface="Inter" pitchFamily="34" charset="-122"/>
                <a:cs typeface="Inter" pitchFamily="34" charset="-120"/>
              </a:rPr>
              <a:t> a hit returns the validated plan with no LLM call. A low-confidence query skips the cache entirely.</a:t>
            </a:r>
            <a:endParaRPr lang="en-US" sz="1600" dirty="0"/>
          </a:p>
          <a:p>
            <a:pPr marL="325120" indent="-325120" algn="l">
              <a:lnSpc>
                <a:spcPct val="90000"/>
              </a:lnSpc>
              <a:buSzPct val="100000"/>
              <a:buFont typeface="+mj-lt"/>
              <a:buAutoNum type="arabicPeriod" startAt="3"/>
            </a:pPr>
            <a:r>
              <a:rPr lang="en-US" sz="1600" b="1" dirty="0">
                <a:solidFill>
                  <a:srgbClr val="000000"/>
                </a:solidFill>
                <a:latin typeface="Inter Bold" pitchFamily="34" charset="0"/>
                <a:ea typeface="Inter Bold" pitchFamily="34" charset="-122"/>
                <a:cs typeface="Inter Bold" pitchFamily="34" charset="-120"/>
              </a:rPr>
              <a:t>Relevance gate:</a:t>
            </a:r>
            <a:r>
              <a:rPr lang="en-US" sz="1600" dirty="0">
                <a:solidFill>
                  <a:srgbClr val="000000"/>
                </a:solidFill>
                <a:latin typeface="Inter" pitchFamily="34" charset="0"/>
                <a:ea typeface="Inter" pitchFamily="34" charset="-122"/>
                <a:cs typeface="Inter" pitchFamily="34" charset="-120"/>
              </a:rPr>
              <a:t> if the SIIS text is off-topic, return contexts: [] with fallback: "no_match". If there is no SIIS text, return no_siis_context.</a:t>
            </a:r>
            <a:endParaRPr lang="en-US" sz="1600" dirty="0"/>
          </a:p>
        </p:txBody>
      </p:sp>
      <p:sp>
        <p:nvSpPr>
          <p:cNvPr id="8" name="Shape 6"/>
          <p:cNvSpPr/>
          <p:nvPr/>
        </p:nvSpPr>
        <p:spPr>
          <a:xfrm>
            <a:off x="6172046" y="1567755"/>
            <a:ext cx="5486263" cy="4985445"/>
          </a:xfrm>
          <a:prstGeom prst="rect">
            <a:avLst/>
          </a:prstGeom>
          <a:noFill/>
          <a:ln w="25399">
            <a:solidFill>
              <a:srgbClr val="C9C2D5"/>
            </a:solidFill>
            <a:prstDash val="solid"/>
          </a:ln>
        </p:spPr>
      </p:sp>
      <p:sp>
        <p:nvSpPr>
          <p:cNvPr id="9" name="Text 7"/>
          <p:cNvSpPr/>
          <p:nvPr/>
        </p:nvSpPr>
        <p:spPr>
          <a:xfrm>
            <a:off x="6400640" y="1796355"/>
            <a:ext cx="5029074" cy="3427710"/>
          </a:xfrm>
          <a:prstGeom prst="rect">
            <a:avLst/>
          </a:prstGeom>
          <a:noFill/>
          <a:ln/>
        </p:spPr>
        <p:txBody>
          <a:bodyPr wrap="square" lIns="0" tIns="0" rIns="0" bIns="0" rtlCol="0" anchor="t">
            <a:normAutofit/>
          </a:bodyPr>
          <a:lstStyle/>
          <a:p>
            <a:pPr marL="325120" indent="-325120" algn="l">
              <a:lnSpc>
                <a:spcPct val="90000"/>
              </a:lnSpc>
              <a:buSzPct val="100000"/>
              <a:buFont typeface="+mj-lt"/>
              <a:buAutoNum type="arabicPeriod"/>
            </a:pPr>
            <a:r>
              <a:rPr lang="en-US" sz="1600" b="1" dirty="0">
                <a:solidFill>
                  <a:srgbClr val="000000"/>
                </a:solidFill>
                <a:latin typeface="Inter Bold" pitchFamily="34" charset="0"/>
                <a:ea typeface="Inter Bold" pitchFamily="34" charset="-122"/>
                <a:cs typeface="Inter Bold" pitchFamily="34" charset="-120"/>
              </a:rPr>
              <a:t>Stage 1, Structure Extraction:</a:t>
            </a:r>
            <a:r>
              <a:rPr lang="en-US" sz="1600" dirty="0">
                <a:solidFill>
                  <a:srgbClr val="000000"/>
                </a:solidFill>
                <a:latin typeface="Inter" pitchFamily="34" charset="0"/>
                <a:ea typeface="Inter" pitchFamily="34" charset="-122"/>
                <a:cs typeface="Inter" pitchFamily="34" charset="-120"/>
              </a:rPr>
              <a:t> the LLM parses SIIS text into Goal → Actions → StepGroups. Validators check goal, title and description syntax and word counts. Each step must be supported by the source text, and a fixable issue is repaired rather than rejected.</a:t>
            </a:r>
            <a:endParaRPr lang="en-US" sz="1600" dirty="0"/>
          </a:p>
          <a:p>
            <a:pPr marL="325120" indent="-325120" algn="l">
              <a:lnSpc>
                <a:spcPct val="90000"/>
              </a:lnSpc>
              <a:buSzPct val="100000"/>
              <a:buFont typeface="+mj-lt"/>
              <a:buAutoNum type="arabicPeriod" startAt="2"/>
            </a:pPr>
            <a:r>
              <a:rPr lang="en-US" sz="1600" b="1" dirty="0">
                <a:solidFill>
                  <a:srgbClr val="000000"/>
                </a:solidFill>
                <a:latin typeface="Inter Bold" pitchFamily="34" charset="0"/>
                <a:ea typeface="Inter Bold" pitchFamily="34" charset="-122"/>
                <a:cs typeface="Inter Bold" pitchFamily="34" charset="-120"/>
              </a:rPr>
              <a:t>Stage 2, Deeplink Mapping:</a:t>
            </a:r>
            <a:r>
              <a:rPr lang="en-US" sz="1600" dirty="0">
                <a:solidFill>
                  <a:srgbClr val="000000"/>
                </a:solidFill>
                <a:latin typeface="Inter" pitchFamily="34" charset="0"/>
                <a:ea typeface="Inter" pitchFamily="34" charset="-122"/>
                <a:cs typeface="Inter" pitchFamily="34" charset="-120"/>
              </a:rPr>
              <a:t> char n-gram TF-IDF retrieval over the catalog's descriptions, never the URI strings. A rule guard assigns critical or manual categories, sorts critical actions last, and falls back to bixby://dummy_positive when similarity is low.</a:t>
            </a:r>
            <a:endParaRPr lang="en-US" sz="1600" dirty="0"/>
          </a:p>
          <a:p>
            <a:pPr marL="325120" indent="-325120" algn="l">
              <a:lnSpc>
                <a:spcPct val="90000"/>
              </a:lnSpc>
              <a:buSzPct val="100000"/>
              <a:buFont typeface="+mj-lt"/>
              <a:buAutoNum type="arabicPeriod" startAt="3"/>
            </a:pPr>
            <a:r>
              <a:rPr lang="en-US" sz="1600" b="1" dirty="0">
                <a:solidFill>
                  <a:srgbClr val="000000"/>
                </a:solidFill>
                <a:latin typeface="Inter Bold" pitchFamily="34" charset="0"/>
                <a:ea typeface="Inter Bold" pitchFamily="34" charset="-122"/>
                <a:cs typeface="Inter Bold" pitchFamily="34" charset="-120"/>
              </a:rPr>
              <a:t>Scrubber:</a:t>
            </a:r>
            <a:r>
              <a:rPr lang="en-US" sz="1600" dirty="0">
                <a:solidFill>
                  <a:srgbClr val="000000"/>
                </a:solidFill>
                <a:latin typeface="Inter" pitchFamily="34" charset="0"/>
                <a:ea typeface="Inter" pitchFamily="34" charset="-122"/>
                <a:cs typeface="Inter" pitchFamily="34" charset="-120"/>
              </a:rPr>
              <a:t> strips URLs and verifies deeplinks against the catalog, then the plan is cached and returned as pure JSON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23675F-04FD-B326-F5B5-66A910349D7B}"/>
              </a:ext>
            </a:extLst>
          </p:cNvPr>
          <p:cNvPicPr>
            <a:picLocks noChangeAspect="1"/>
          </p:cNvPicPr>
          <p:nvPr/>
        </p:nvPicPr>
        <p:blipFill>
          <a:blip r:embed="rId2"/>
          <a:stretch>
            <a:fillRect/>
          </a:stretch>
        </p:blipFill>
        <p:spPr>
          <a:xfrm>
            <a:off x="2374232" y="0"/>
            <a:ext cx="7316563" cy="6858000"/>
          </a:xfrm>
          <a:prstGeom prst="rect">
            <a:avLst/>
          </a:prstGeom>
        </p:spPr>
      </p:pic>
    </p:spTree>
    <p:extLst>
      <p:ext uri="{BB962C8B-B14F-4D97-AF65-F5344CB8AC3E}">
        <p14:creationId xmlns:p14="http://schemas.microsoft.com/office/powerpoint/2010/main" val="266005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313755"/>
          </a:xfrm>
          <a:prstGeom prst="rect">
            <a:avLst/>
          </a:prstGeom>
          <a:solidFill>
            <a:srgbClr val="E9EBF5"/>
          </a:solidFill>
          <a:ln/>
        </p:spPr>
      </p:sp>
      <p:sp>
        <p:nvSpPr>
          <p:cNvPr id="3" name="Text 1"/>
          <p:cNvSpPr/>
          <p:nvPr/>
        </p:nvSpPr>
        <p:spPr>
          <a:xfrm>
            <a:off x="533387" y="304800"/>
            <a:ext cx="11124922" cy="548580"/>
          </a:xfrm>
          <a:prstGeom prst="rect">
            <a:avLst/>
          </a:prstGeom>
          <a:noFill/>
          <a:ln/>
        </p:spPr>
        <p:txBody>
          <a:bodyPr wrap="none" lIns="0" tIns="0" rIns="0" bIns="0" rtlCol="0" anchor="t"/>
          <a:lstStyle/>
          <a:p>
            <a:pPr marL="0" indent="0" algn="l">
              <a:lnSpc>
                <a:spcPct val="90000"/>
              </a:lnSpc>
              <a:buNone/>
            </a:pPr>
            <a:r>
              <a:rPr lang="en-US" sz="4000" b="1" dirty="0">
                <a:solidFill>
                  <a:srgbClr val="704EA6"/>
                </a:solidFill>
                <a:latin typeface="Poppins Bold" pitchFamily="34" charset="0"/>
                <a:ea typeface="Poppins Bold" pitchFamily="34" charset="-122"/>
                <a:cs typeface="Poppins Bold" pitchFamily="34" charset="-120"/>
              </a:rPr>
              <a:t>Demo &amp; Product Walkthrough</a:t>
            </a:r>
          </a:p>
          <a:p>
            <a:pPr>
              <a:lnSpc>
                <a:spcPct val="90000"/>
              </a:lnSpc>
            </a:pPr>
            <a:r>
              <a:rPr lang="en-US" sz="2000" b="1" dirty="0">
                <a:solidFill>
                  <a:srgbClr val="704EA6"/>
                </a:solidFill>
                <a:hlinkClick r:id="rId3"/>
              </a:rPr>
              <a:t>https://drive.google.com/file/d/1_ooCOpjRS2G8lOtwKyPkBSGQNYcRL5gH/view?usp=sharing</a:t>
            </a:r>
            <a:r>
              <a:rPr lang="en-US" sz="2000" b="1" dirty="0">
                <a:solidFill>
                  <a:srgbClr val="704EA6"/>
                </a:solidFill>
              </a:rPr>
              <a:t> </a:t>
            </a:r>
            <a:endParaRPr lang="en-US" sz="2000" dirty="0"/>
          </a:p>
        </p:txBody>
      </p:sp>
      <p:sp>
        <p:nvSpPr>
          <p:cNvPr id="4" name="Shape 2"/>
          <p:cNvSpPr/>
          <p:nvPr/>
        </p:nvSpPr>
        <p:spPr>
          <a:xfrm>
            <a:off x="533387" y="1131193"/>
            <a:ext cx="3671200" cy="31651"/>
          </a:xfrm>
          <a:prstGeom prst="roundRect">
            <a:avLst>
              <a:gd name="adj" fmla="val 49998"/>
            </a:avLst>
          </a:prstGeom>
          <a:solidFill>
            <a:srgbClr val="704EA6"/>
          </a:solidFill>
          <a:ln/>
        </p:spPr>
      </p:sp>
      <p:sp>
        <p:nvSpPr>
          <p:cNvPr id="5" name="Shape 3"/>
          <p:cNvSpPr/>
          <p:nvPr/>
        </p:nvSpPr>
        <p:spPr>
          <a:xfrm>
            <a:off x="533387" y="1567656"/>
            <a:ext cx="3291797" cy="2705795"/>
          </a:xfrm>
          <a:prstGeom prst="roundRect">
            <a:avLst>
              <a:gd name="adj" fmla="val 3154"/>
            </a:avLst>
          </a:prstGeom>
          <a:solidFill>
            <a:srgbClr val="704EA6"/>
          </a:solidFill>
          <a:ln/>
        </p:spPr>
      </p:sp>
      <p:sp>
        <p:nvSpPr>
          <p:cNvPr id="6" name="Text 4"/>
          <p:cNvSpPr/>
          <p:nvPr/>
        </p:nvSpPr>
        <p:spPr>
          <a:xfrm>
            <a:off x="736582" y="1770856"/>
            <a:ext cx="2885408" cy="438745"/>
          </a:xfrm>
          <a:prstGeom prst="rect">
            <a:avLst/>
          </a:prstGeom>
          <a:noFill/>
          <a:ln/>
        </p:spPr>
        <p:txBody>
          <a:bodyPr wrap="square" lIns="0" tIns="0" rIns="0" bIns="0" rtlCol="0" anchor="t">
            <a:normAutofit lnSpcReduction="10000"/>
          </a:bodyPr>
          <a:lstStyle/>
          <a:p>
            <a:pPr marL="0" indent="0" algn="l">
              <a:lnSpc>
                <a:spcPct val="90000"/>
              </a:lnSpc>
              <a:buNone/>
            </a:pPr>
            <a:r>
              <a:rPr lang="en-US" sz="1600" b="1" dirty="0">
                <a:solidFill>
                  <a:srgbClr val="FFFFFF"/>
                </a:solidFill>
                <a:latin typeface="Inter Bold" pitchFamily="34" charset="0"/>
                <a:ea typeface="Inter Bold" pitchFamily="34" charset="-122"/>
                <a:cs typeface="Inter Bold" pitchFamily="34" charset="-120"/>
              </a:rPr>
              <a:t>Suggested 5-minute demo flow:</a:t>
            </a:r>
            <a:endParaRPr lang="en-US" sz="1600" dirty="0"/>
          </a:p>
        </p:txBody>
      </p:sp>
      <p:sp>
        <p:nvSpPr>
          <p:cNvPr id="7" name="Shape 5"/>
          <p:cNvSpPr/>
          <p:nvPr/>
        </p:nvSpPr>
        <p:spPr>
          <a:xfrm>
            <a:off x="3977481" y="1567656"/>
            <a:ext cx="7680827" cy="2705795"/>
          </a:xfrm>
          <a:prstGeom prst="roundRect">
            <a:avLst>
              <a:gd name="adj" fmla="val 3154"/>
            </a:avLst>
          </a:prstGeom>
          <a:noFill/>
          <a:ln w="25399">
            <a:solidFill>
              <a:srgbClr val="C9C2D5"/>
            </a:solidFill>
            <a:prstDash val="solid"/>
          </a:ln>
        </p:spPr>
      </p:sp>
      <p:sp>
        <p:nvSpPr>
          <p:cNvPr id="8" name="Text 6"/>
          <p:cNvSpPr/>
          <p:nvPr/>
        </p:nvSpPr>
        <p:spPr>
          <a:xfrm>
            <a:off x="4206075" y="1796256"/>
            <a:ext cx="7223639" cy="2248595"/>
          </a:xfrm>
          <a:prstGeom prst="rect">
            <a:avLst/>
          </a:prstGeom>
          <a:noFill/>
          <a:ln/>
        </p:spPr>
        <p:txBody>
          <a:bodyPr wrap="square" lIns="0" tIns="0" rIns="0" bIns="0" rtlCol="0" anchor="t">
            <a:normAutofit/>
          </a:bodyPr>
          <a:lstStyle/>
          <a:p>
            <a:pPr marL="325120" indent="-325120" algn="l">
              <a:lnSpc>
                <a:spcPct val="90000"/>
              </a:lnSpc>
              <a:buSzPct val="100000"/>
              <a:buFont typeface="+mj-lt"/>
              <a:buAutoNum type="arabicPeriod"/>
            </a:pPr>
            <a:r>
              <a:rPr lang="en-US" sz="1600" dirty="0">
                <a:solidFill>
                  <a:srgbClr val="000000"/>
                </a:solidFill>
                <a:latin typeface="Inter" pitchFamily="34" charset="0"/>
                <a:ea typeface="Inter" pitchFamily="34" charset="-122"/>
                <a:cs typeface="Inter" pitchFamily="34" charset="-120"/>
              </a:rPr>
              <a:t>GET /health returns {"status":"ok"}.</a:t>
            </a:r>
            <a:endParaRPr lang="en-US" sz="1600" dirty="0"/>
          </a:p>
          <a:p>
            <a:pPr marL="325120" indent="-325120" algn="l">
              <a:lnSpc>
                <a:spcPct val="90000"/>
              </a:lnSpc>
              <a:buSzPct val="100000"/>
              <a:buFont typeface="+mj-lt"/>
              <a:buAutoNum type="arabicPeriod" startAt="2"/>
            </a:pPr>
            <a:r>
              <a:rPr lang="en-US" sz="1600" b="1" dirty="0">
                <a:solidFill>
                  <a:srgbClr val="000000"/>
                </a:solidFill>
                <a:latin typeface="Inter Bold" pitchFamily="34" charset="0"/>
                <a:ea typeface="Inter Bold" pitchFamily="34" charset="-122"/>
                <a:cs typeface="Inter Bold" pitchFamily="34" charset="-120"/>
              </a:rPr>
              <a:t>Cold request:</a:t>
            </a:r>
            <a:r>
              <a:rPr lang="en-US" sz="1600" dirty="0">
                <a:solidFill>
                  <a:srgbClr val="000000"/>
                </a:solidFill>
                <a:latin typeface="Inter" pitchFamily="34" charset="0"/>
                <a:ea typeface="Inter" pitchFamily="34" charset="-122"/>
                <a:cs typeface="Inter" pitchFamily="34" charset="-120"/>
              </a:rPr>
              <a:t> "phone swipe gestures wrong direction after app install" with a SIIS text. Show the goal, the ordered actions, and the deeplink on the auto action. Show meta: cache_hit:false, latency, model, cost.</a:t>
            </a:r>
            <a:endParaRPr lang="en-US" sz="1600" dirty="0"/>
          </a:p>
          <a:p>
            <a:pPr marL="325120" indent="-325120" algn="l">
              <a:lnSpc>
                <a:spcPct val="90000"/>
              </a:lnSpc>
              <a:buSzPct val="100000"/>
              <a:buFont typeface="+mj-lt"/>
              <a:buAutoNum type="arabicPeriod" startAt="3"/>
            </a:pPr>
            <a:r>
              <a:rPr lang="en-US" sz="1600" b="1" dirty="0">
                <a:solidFill>
                  <a:srgbClr val="000000"/>
                </a:solidFill>
                <a:latin typeface="Inter Bold" pitchFamily="34" charset="0"/>
                <a:ea typeface="Inter Bold" pitchFamily="34" charset="-122"/>
                <a:cs typeface="Inter Bold" pitchFamily="34" charset="-120"/>
              </a:rPr>
              <a:t>Cache hit:</a:t>
            </a:r>
            <a:r>
              <a:rPr lang="en-US" sz="1600" dirty="0">
                <a:solidFill>
                  <a:srgbClr val="000000"/>
                </a:solidFill>
                <a:latin typeface="Inter" pitchFamily="34" charset="0"/>
                <a:ea typeface="Inter" pitchFamily="34" charset="-122"/>
                <a:cs typeface="Inter" pitchFamily="34" charset="-120"/>
              </a:rPr>
              <a:t> send a paraphrase with no SIIS text, such as "my S22 display is completely black". Show cache_hit:true at about 2 ms.</a:t>
            </a:r>
            <a:endParaRPr lang="en-US" sz="1600" dirty="0"/>
          </a:p>
          <a:p>
            <a:pPr marL="325120" indent="-325120" algn="l">
              <a:lnSpc>
                <a:spcPct val="90000"/>
              </a:lnSpc>
              <a:buSzPct val="100000"/>
              <a:buFont typeface="+mj-lt"/>
              <a:buAutoNum type="arabicPeriod" startAt="4"/>
            </a:pPr>
            <a:r>
              <a:rPr lang="en-US" sz="1600" b="1" dirty="0">
                <a:solidFill>
                  <a:srgbClr val="000000"/>
                </a:solidFill>
                <a:latin typeface="Inter Bold" pitchFamily="34" charset="0"/>
                <a:ea typeface="Inter Bold" pitchFamily="34" charset="-122"/>
                <a:cs typeface="Inter Bold" pitchFamily="34" charset="-120"/>
              </a:rPr>
              <a:t>Guardrails:</a:t>
            </a:r>
            <a:r>
              <a:rPr lang="en-US" sz="1600" dirty="0">
                <a:solidFill>
                  <a:srgbClr val="000000"/>
                </a:solidFill>
                <a:latin typeface="Inter" pitchFamily="34" charset="0"/>
                <a:ea typeface="Inter" pitchFamily="34" charset="-122"/>
                <a:cs typeface="Inter" pitchFamily="34" charset="-120"/>
              </a:rPr>
              <a:t> send an off-topic SIIS article to show no_match, and a bare complaint to show no_siis_context.</a:t>
            </a:r>
            <a:endParaRPr lang="en-US" sz="1600" dirty="0"/>
          </a:p>
          <a:p>
            <a:pPr marL="325120" indent="-325120" algn="l">
              <a:lnSpc>
                <a:spcPct val="90000"/>
              </a:lnSpc>
              <a:buSzPct val="100000"/>
              <a:buFont typeface="+mj-lt"/>
              <a:buAutoNum type="arabicPeriod" startAt="5"/>
            </a:pPr>
            <a:r>
              <a:rPr lang="en-US" sz="1600" dirty="0">
                <a:solidFill>
                  <a:srgbClr val="000000"/>
                </a:solidFill>
                <a:latin typeface="Inter" pitchFamily="34" charset="0"/>
                <a:ea typeface="Inter" pitchFamily="34" charset="-122"/>
                <a:cs typeface="Inter" pitchFamily="34" charset="-120"/>
              </a:rPr>
              <a:t>Show validate_results.py passing on results.jsonl.</a:t>
            </a:r>
            <a:endParaRPr lang="en-US" sz="1600" dirty="0"/>
          </a:p>
        </p:txBody>
      </p:sp>
      <p:pic>
        <p:nvPicPr>
          <p:cNvPr id="10" name="Picture 9">
            <a:extLst>
              <a:ext uri="{FF2B5EF4-FFF2-40B4-BE49-F238E27FC236}">
                <a16:creationId xmlns:a16="http://schemas.microsoft.com/office/drawing/2014/main" id="{6792A2DA-8EE1-E4B7-07CD-541828689F4F}"/>
              </a:ext>
            </a:extLst>
          </p:cNvPr>
          <p:cNvPicPr>
            <a:picLocks noChangeAspect="1"/>
          </p:cNvPicPr>
          <p:nvPr/>
        </p:nvPicPr>
        <p:blipFill>
          <a:blip r:embed="rId4"/>
          <a:stretch>
            <a:fillRect/>
          </a:stretch>
        </p:blipFill>
        <p:spPr>
          <a:xfrm>
            <a:off x="1267327" y="4044851"/>
            <a:ext cx="8834897" cy="27443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82ECC0-07BC-433D-362E-A3C7AEFD94B1}"/>
              </a:ext>
            </a:extLst>
          </p:cNvPr>
          <p:cNvPicPr>
            <a:picLocks noChangeAspect="1"/>
          </p:cNvPicPr>
          <p:nvPr/>
        </p:nvPicPr>
        <p:blipFill>
          <a:blip r:embed="rId2"/>
          <a:stretch>
            <a:fillRect/>
          </a:stretch>
        </p:blipFill>
        <p:spPr>
          <a:xfrm>
            <a:off x="1077687" y="136487"/>
            <a:ext cx="9765458" cy="6324660"/>
          </a:xfrm>
          <a:prstGeom prst="rect">
            <a:avLst/>
          </a:prstGeom>
        </p:spPr>
      </p:pic>
    </p:spTree>
    <p:extLst>
      <p:ext uri="{BB962C8B-B14F-4D97-AF65-F5344CB8AC3E}">
        <p14:creationId xmlns:p14="http://schemas.microsoft.com/office/powerpoint/2010/main" val="814562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AE5199-E856-6C0C-F612-FB149455DC10}"/>
              </a:ext>
            </a:extLst>
          </p:cNvPr>
          <p:cNvPicPr>
            <a:picLocks noChangeAspect="1"/>
          </p:cNvPicPr>
          <p:nvPr/>
        </p:nvPicPr>
        <p:blipFill>
          <a:blip r:embed="rId2"/>
          <a:stretch>
            <a:fillRect/>
          </a:stretch>
        </p:blipFill>
        <p:spPr>
          <a:xfrm>
            <a:off x="1146434" y="103640"/>
            <a:ext cx="9899132" cy="6411234"/>
          </a:xfrm>
          <a:prstGeom prst="rect">
            <a:avLst/>
          </a:prstGeom>
        </p:spPr>
      </p:pic>
    </p:spTree>
    <p:extLst>
      <p:ext uri="{BB962C8B-B14F-4D97-AF65-F5344CB8AC3E}">
        <p14:creationId xmlns:p14="http://schemas.microsoft.com/office/powerpoint/2010/main" val="3217949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313755"/>
          </a:xfrm>
          <a:prstGeom prst="rect">
            <a:avLst/>
          </a:prstGeom>
          <a:solidFill>
            <a:srgbClr val="E9EBF5"/>
          </a:solidFill>
          <a:ln/>
        </p:spPr>
      </p:sp>
      <p:sp>
        <p:nvSpPr>
          <p:cNvPr id="3" name="Text 1"/>
          <p:cNvSpPr/>
          <p:nvPr/>
        </p:nvSpPr>
        <p:spPr>
          <a:xfrm>
            <a:off x="533387" y="304800"/>
            <a:ext cx="11124922" cy="548580"/>
          </a:xfrm>
          <a:prstGeom prst="rect">
            <a:avLst/>
          </a:prstGeom>
          <a:noFill/>
          <a:ln/>
        </p:spPr>
        <p:txBody>
          <a:bodyPr wrap="none" lIns="0" tIns="0" rIns="0" bIns="0" rtlCol="0" anchor="t"/>
          <a:lstStyle/>
          <a:p>
            <a:pPr marL="0" indent="0" algn="l">
              <a:lnSpc>
                <a:spcPct val="90000"/>
              </a:lnSpc>
              <a:buNone/>
            </a:pPr>
            <a:r>
              <a:rPr lang="en-US" sz="4000" b="1" dirty="0">
                <a:solidFill>
                  <a:srgbClr val="704EA6"/>
                </a:solidFill>
                <a:latin typeface="Poppins Bold" pitchFamily="34" charset="0"/>
                <a:ea typeface="Poppins Bold" pitchFamily="34" charset="-122"/>
                <a:cs typeface="Poppins Bold" pitchFamily="34" charset="-120"/>
              </a:rPr>
              <a:t>Tools and tech stack used</a:t>
            </a:r>
            <a:endParaRPr lang="en-US" sz="4000" dirty="0"/>
          </a:p>
        </p:txBody>
      </p:sp>
      <p:sp>
        <p:nvSpPr>
          <p:cNvPr id="4" name="Shape 2"/>
          <p:cNvSpPr/>
          <p:nvPr/>
        </p:nvSpPr>
        <p:spPr>
          <a:xfrm>
            <a:off x="533387" y="1131193"/>
            <a:ext cx="3671200" cy="31651"/>
          </a:xfrm>
          <a:prstGeom prst="roundRect">
            <a:avLst>
              <a:gd name="adj" fmla="val 49998"/>
            </a:avLst>
          </a:prstGeom>
          <a:solidFill>
            <a:srgbClr val="704EA6"/>
          </a:solidFill>
          <a:ln/>
        </p:spPr>
      </p:sp>
      <p:sp>
        <p:nvSpPr>
          <p:cNvPr id="5" name="Shape 3"/>
          <p:cNvSpPr/>
          <p:nvPr/>
        </p:nvSpPr>
        <p:spPr>
          <a:xfrm>
            <a:off x="533387" y="1567656"/>
            <a:ext cx="5486263" cy="4985544"/>
          </a:xfrm>
          <a:prstGeom prst="rect">
            <a:avLst/>
          </a:prstGeom>
          <a:solidFill>
            <a:srgbClr val="E3DCEF"/>
          </a:solidFill>
          <a:ln/>
        </p:spPr>
      </p:sp>
      <p:sp>
        <p:nvSpPr>
          <p:cNvPr id="6" name="Text 4"/>
          <p:cNvSpPr/>
          <p:nvPr/>
        </p:nvSpPr>
        <p:spPr>
          <a:xfrm>
            <a:off x="736582" y="1770856"/>
            <a:ext cx="5079873" cy="3309045"/>
          </a:xfrm>
          <a:prstGeom prst="rect">
            <a:avLst/>
          </a:prstGeom>
          <a:noFill/>
          <a:ln/>
        </p:spPr>
        <p:txBody>
          <a:bodyPr wrap="square" lIns="0" tIns="0" rIns="0" bIns="0" rtlCol="0" anchor="t">
            <a:normAutofit lnSpcReduction="10000"/>
          </a:bodyPr>
          <a:lstStyle/>
          <a:p>
            <a:pPr marL="0" indent="0" algn="l">
              <a:lnSpc>
                <a:spcPct val="90000"/>
              </a:lnSpc>
              <a:spcAft>
                <a:spcPts val="1750"/>
              </a:spcAft>
              <a:buNone/>
            </a:pPr>
            <a:r>
              <a:rPr lang="en-US" sz="1600" b="1" dirty="0">
                <a:solidFill>
                  <a:srgbClr val="000000"/>
                </a:solidFill>
                <a:latin typeface="Inter Bold" pitchFamily="34" charset="0"/>
                <a:ea typeface="Inter Bold" pitchFamily="34" charset="-122"/>
                <a:cs typeface="Inter Bold" pitchFamily="34" charset="-120"/>
              </a:rPr>
              <a:t>Language and API:</a:t>
            </a:r>
            <a:r>
              <a:rPr lang="en-US" sz="1600" dirty="0">
                <a:solidFill>
                  <a:srgbClr val="000000"/>
                </a:solidFill>
                <a:latin typeface="Inter" pitchFamily="34" charset="0"/>
                <a:ea typeface="Inter" pitchFamily="34" charset="-122"/>
                <a:cs typeface="Inter" pitchFamily="34" charset="-120"/>
              </a:rPr>
              <a:t> Python 3.11, FastAPI, Uvicorn, Pydantic (the official schema.py contract)</a:t>
            </a:r>
            <a:endParaRPr lang="en-US" sz="1600" dirty="0"/>
          </a:p>
          <a:p>
            <a:pPr marL="0" indent="0" algn="l">
              <a:lnSpc>
                <a:spcPct val="90000"/>
              </a:lnSpc>
              <a:spcAft>
                <a:spcPts val="1750"/>
              </a:spcAft>
              <a:buNone/>
            </a:pPr>
            <a:r>
              <a:rPr lang="en-US" sz="1600" b="1" dirty="0">
                <a:solidFill>
                  <a:srgbClr val="000000"/>
                </a:solidFill>
                <a:latin typeface="Inter Bold" pitchFamily="34" charset="0"/>
                <a:ea typeface="Inter Bold" pitchFamily="34" charset="-122"/>
                <a:cs typeface="Inter Bold" pitchFamily="34" charset="-120"/>
              </a:rPr>
              <a:t>LLM:</a:t>
            </a:r>
            <a:r>
              <a:rPr lang="en-US" sz="1600" dirty="0">
                <a:solidFill>
                  <a:srgbClr val="000000"/>
                </a:solidFill>
                <a:latin typeface="Inter" pitchFamily="34" charset="0"/>
                <a:ea typeface="Inter" pitchFamily="34" charset="-122"/>
                <a:cs typeface="Inter" pitchFamily="34" charset="-120"/>
              </a:rPr>
              <a:t> Gemini (gemini-3.5-flash-lite) via a pluggable client. OpenAI, Anthropic and an offline mock are also supported. temperature=0, response memoization, 30 s timeout guard, per-request token cost tracking.</a:t>
            </a:r>
            <a:endParaRPr lang="en-US" sz="1600" dirty="0"/>
          </a:p>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Retrieval and embeddings:</a:t>
            </a:r>
            <a:r>
              <a:rPr lang="en-US" sz="1600" dirty="0">
                <a:solidFill>
                  <a:srgbClr val="000000"/>
                </a:solidFill>
                <a:latin typeface="Inter" pitchFamily="34" charset="0"/>
                <a:ea typeface="Inter" pitchFamily="34" charset="-122"/>
                <a:cs typeface="Inter" pitchFamily="34" charset="-120"/>
              </a:rPr>
              <a:t> scikit-learn char n-gram TF-IDF (3–5, char_wb) with cosine similarity over sparse matrices (SciPy and NumPy). This was chosen because HuggingFace was blocked on our network. Fully offline, typo-tolerant, and the Embedder protocol lets a dense model drop in later.</a:t>
            </a:r>
            <a:endParaRPr lang="en-US" sz="1600" dirty="0"/>
          </a:p>
        </p:txBody>
      </p:sp>
      <p:sp>
        <p:nvSpPr>
          <p:cNvPr id="7" name="Shape 5"/>
          <p:cNvSpPr/>
          <p:nvPr/>
        </p:nvSpPr>
        <p:spPr>
          <a:xfrm>
            <a:off x="6172046" y="1567656"/>
            <a:ext cx="5486263" cy="4985544"/>
          </a:xfrm>
          <a:prstGeom prst="rect">
            <a:avLst/>
          </a:prstGeom>
          <a:noFill/>
          <a:ln w="25399">
            <a:solidFill>
              <a:srgbClr val="C9C2D5"/>
            </a:solidFill>
            <a:prstDash val="solid"/>
          </a:ln>
        </p:spPr>
      </p:sp>
      <p:sp>
        <p:nvSpPr>
          <p:cNvPr id="8" name="Text 6"/>
          <p:cNvSpPr/>
          <p:nvPr/>
        </p:nvSpPr>
        <p:spPr>
          <a:xfrm>
            <a:off x="6400640" y="1796256"/>
            <a:ext cx="5029074" cy="1773436"/>
          </a:xfrm>
          <a:prstGeom prst="rect">
            <a:avLst/>
          </a:prstGeom>
          <a:noFill/>
          <a:ln/>
        </p:spPr>
        <p:txBody>
          <a:bodyPr wrap="square" lIns="0" tIns="0" rIns="0" bIns="0" rtlCol="0" anchor="t">
            <a:normAutofit lnSpcReduction="10000"/>
          </a:bodyPr>
          <a:lstStyle/>
          <a:p>
            <a:pPr marL="0" indent="0" algn="l">
              <a:lnSpc>
                <a:spcPct val="90000"/>
              </a:lnSpc>
              <a:spcAft>
                <a:spcPts val="1750"/>
              </a:spcAft>
              <a:buNone/>
            </a:pPr>
            <a:r>
              <a:rPr lang="en-US" sz="1600" b="1" dirty="0">
                <a:solidFill>
                  <a:srgbClr val="000000"/>
                </a:solidFill>
                <a:latin typeface="Inter Bold" pitchFamily="34" charset="0"/>
                <a:ea typeface="Inter Bold" pitchFamily="34" charset="-122"/>
                <a:cs typeface="Inter Bold" pitchFamily="34" charset="-120"/>
              </a:rPr>
              <a:t>Cache:</a:t>
            </a:r>
            <a:r>
              <a:rPr lang="en-US" sz="1600" dirty="0">
                <a:solidFill>
                  <a:srgbClr val="000000"/>
                </a:solidFill>
                <a:latin typeface="Inter" pitchFamily="34" charset="0"/>
                <a:ea typeface="Inter" pitchFamily="34" charset="-122"/>
                <a:cs typeface="Inter" pitchFamily="34" charset="-120"/>
              </a:rPr>
              <a:t> in-memory semantic cache, device-gated, thread-safe, pre-warmed from results.jsonl</a:t>
            </a:r>
            <a:endParaRPr lang="en-US" sz="1600" dirty="0"/>
          </a:p>
          <a:p>
            <a:pPr marL="0" indent="0" algn="l">
              <a:lnSpc>
                <a:spcPct val="90000"/>
              </a:lnSpc>
              <a:spcAft>
                <a:spcPts val="1750"/>
              </a:spcAft>
              <a:buNone/>
            </a:pPr>
            <a:r>
              <a:rPr lang="en-US" sz="1600" b="1" dirty="0">
                <a:solidFill>
                  <a:srgbClr val="000000"/>
                </a:solidFill>
                <a:latin typeface="Inter Bold" pitchFamily="34" charset="0"/>
                <a:ea typeface="Inter Bold" pitchFamily="34" charset="-122"/>
                <a:cs typeface="Inter Bold" pitchFamily="34" charset="-120"/>
              </a:rPr>
              <a:t>Quality:</a:t>
            </a:r>
            <a:r>
              <a:rPr lang="en-US" sz="1600" dirty="0">
                <a:solidFill>
                  <a:srgbClr val="000000"/>
                </a:solidFill>
                <a:latin typeface="Inter" pitchFamily="34" charset="0"/>
                <a:ea typeface="Inter" pitchFamily="34" charset="-122"/>
                <a:cs typeface="Inter" pitchFamily="34" charset="-120"/>
              </a:rPr>
              <a:t> pytest (119 test functions), validation scripts, benchmark scripts</a:t>
            </a:r>
            <a:endParaRPr lang="en-US" sz="1600" dirty="0"/>
          </a:p>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Deploy:</a:t>
            </a:r>
            <a:r>
              <a:rPr lang="en-US" sz="1600" dirty="0">
                <a:solidFill>
                  <a:srgbClr val="000000"/>
                </a:solidFill>
                <a:latin typeface="Inter" pitchFamily="34" charset="0"/>
                <a:ea typeface="Inter" pitchFamily="34" charset="-122"/>
                <a:cs typeface="Inter" pitchFamily="34" charset="-120"/>
              </a:rPr>
              <a:t> Docker (python:3.11-slim, healthcheck, vectorizer built at image build time)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313755"/>
          </a:xfrm>
          <a:prstGeom prst="rect">
            <a:avLst/>
          </a:prstGeom>
          <a:solidFill>
            <a:srgbClr val="E9EBF5"/>
          </a:solidFill>
          <a:ln/>
        </p:spPr>
      </p:sp>
      <p:sp>
        <p:nvSpPr>
          <p:cNvPr id="3" name="Text 1"/>
          <p:cNvSpPr/>
          <p:nvPr/>
        </p:nvSpPr>
        <p:spPr>
          <a:xfrm>
            <a:off x="533387" y="304800"/>
            <a:ext cx="11124922" cy="548580"/>
          </a:xfrm>
          <a:prstGeom prst="rect">
            <a:avLst/>
          </a:prstGeom>
          <a:noFill/>
          <a:ln/>
        </p:spPr>
        <p:txBody>
          <a:bodyPr wrap="none" lIns="0" tIns="0" rIns="0" bIns="0" rtlCol="0" anchor="t"/>
          <a:lstStyle/>
          <a:p>
            <a:pPr marL="0" indent="0" algn="l">
              <a:lnSpc>
                <a:spcPct val="90000"/>
              </a:lnSpc>
              <a:buNone/>
            </a:pPr>
            <a:r>
              <a:rPr lang="en-US" sz="4000" b="1" dirty="0">
                <a:solidFill>
                  <a:srgbClr val="704EA6"/>
                </a:solidFill>
                <a:latin typeface="Poppins Bold" pitchFamily="34" charset="0"/>
                <a:ea typeface="Poppins Bold" pitchFamily="34" charset="-122"/>
                <a:cs typeface="Poppins Bold" pitchFamily="34" charset="-120"/>
              </a:rPr>
              <a:t>Impact &amp; Use case</a:t>
            </a:r>
            <a:endParaRPr lang="en-US" sz="4000" dirty="0"/>
          </a:p>
        </p:txBody>
      </p:sp>
      <p:sp>
        <p:nvSpPr>
          <p:cNvPr id="4" name="Shape 2"/>
          <p:cNvSpPr/>
          <p:nvPr/>
        </p:nvSpPr>
        <p:spPr>
          <a:xfrm>
            <a:off x="533387" y="1131193"/>
            <a:ext cx="3671200" cy="31651"/>
          </a:xfrm>
          <a:prstGeom prst="roundRect">
            <a:avLst>
              <a:gd name="adj" fmla="val 49998"/>
            </a:avLst>
          </a:prstGeom>
          <a:solidFill>
            <a:srgbClr val="704EA6"/>
          </a:solidFill>
          <a:ln/>
        </p:spPr>
      </p:sp>
      <p:sp>
        <p:nvSpPr>
          <p:cNvPr id="5" name="Shape 3"/>
          <p:cNvSpPr/>
          <p:nvPr/>
        </p:nvSpPr>
        <p:spPr>
          <a:xfrm>
            <a:off x="533387" y="1567656"/>
            <a:ext cx="5486263" cy="4985544"/>
          </a:xfrm>
          <a:prstGeom prst="rect">
            <a:avLst/>
          </a:prstGeom>
          <a:solidFill>
            <a:srgbClr val="704EA6"/>
          </a:solidFill>
          <a:ln/>
        </p:spPr>
      </p:sp>
      <p:sp>
        <p:nvSpPr>
          <p:cNvPr id="6" name="Text 4"/>
          <p:cNvSpPr/>
          <p:nvPr/>
        </p:nvSpPr>
        <p:spPr>
          <a:xfrm>
            <a:off x="736581" y="1926679"/>
            <a:ext cx="5079873" cy="2618780"/>
          </a:xfrm>
          <a:prstGeom prst="rect">
            <a:avLst/>
          </a:prstGeom>
          <a:noFill/>
          <a:ln/>
        </p:spPr>
        <p:txBody>
          <a:bodyPr wrap="square" lIns="0" tIns="0" rIns="0" bIns="0" rtlCol="0" anchor="t">
            <a:noAutofit/>
          </a:bodyPr>
          <a:lstStyle/>
          <a:p>
            <a:pPr marL="325120" indent="-325120" algn="l">
              <a:lnSpc>
                <a:spcPct val="90000"/>
              </a:lnSpc>
              <a:buSzPct val="100000"/>
              <a:buChar char="•"/>
            </a:pPr>
            <a:r>
              <a:rPr lang="en-US" sz="2000" b="1" dirty="0">
                <a:solidFill>
                  <a:srgbClr val="FFFFFF"/>
                </a:solidFill>
                <a:latin typeface="Inter Bold" pitchFamily="34" charset="0"/>
                <a:ea typeface="Inter Bold" pitchFamily="34" charset="-122"/>
                <a:cs typeface="Inter Bold" pitchFamily="34" charset="-120"/>
              </a:rPr>
              <a:t>Support time:</a:t>
            </a:r>
            <a:r>
              <a:rPr lang="en-US" sz="2000" dirty="0">
                <a:solidFill>
                  <a:srgbClr val="FFFFFF"/>
                </a:solidFill>
                <a:latin typeface="Inter" pitchFamily="34" charset="0"/>
                <a:ea typeface="Inter" pitchFamily="34" charset="-122"/>
                <a:cs typeface="Inter" pitchFamily="34" charset="-120"/>
              </a:rPr>
              <a:t> about 15 min of manual triage becomes seconds, and about 2 ms on repeated issues.</a:t>
            </a:r>
          </a:p>
          <a:p>
            <a:pPr algn="l">
              <a:lnSpc>
                <a:spcPct val="90000"/>
              </a:lnSpc>
              <a:buSzPct val="100000"/>
            </a:pPr>
            <a:endParaRPr lang="en-US" sz="2000" dirty="0"/>
          </a:p>
          <a:p>
            <a:pPr marL="325120" indent="-325120" algn="l">
              <a:lnSpc>
                <a:spcPct val="90000"/>
              </a:lnSpc>
              <a:buSzPct val="100000"/>
              <a:buChar char="•"/>
            </a:pPr>
            <a:r>
              <a:rPr lang="en-US" sz="2000" b="1" dirty="0">
                <a:solidFill>
                  <a:srgbClr val="FFFFFF"/>
                </a:solidFill>
                <a:latin typeface="Inter Bold" pitchFamily="34" charset="0"/>
                <a:ea typeface="Inter Bold" pitchFamily="34" charset="-122"/>
                <a:cs typeface="Inter Bold" pitchFamily="34" charset="-120"/>
              </a:rPr>
              <a:t>Cost:</a:t>
            </a:r>
            <a:r>
              <a:rPr lang="en-US" sz="2000" dirty="0">
                <a:solidFill>
                  <a:srgbClr val="FFFFFF"/>
                </a:solidFill>
                <a:latin typeface="Inter" pitchFamily="34" charset="0"/>
                <a:ea typeface="Inter" pitchFamily="34" charset="-122"/>
                <a:cs typeface="Inter" pitchFamily="34" charset="-120"/>
              </a:rPr>
              <a:t> a cache hit makes no LLM call and costs $0.00. Cold queries have tracked per-request cost.</a:t>
            </a:r>
          </a:p>
          <a:p>
            <a:pPr algn="l">
              <a:lnSpc>
                <a:spcPct val="90000"/>
              </a:lnSpc>
              <a:buSzPct val="100000"/>
            </a:pPr>
            <a:endParaRPr lang="en-US" sz="2000" dirty="0"/>
          </a:p>
          <a:p>
            <a:pPr marL="325120" indent="-325120" algn="l">
              <a:lnSpc>
                <a:spcPct val="90000"/>
              </a:lnSpc>
              <a:buSzPct val="100000"/>
              <a:buChar char="•"/>
            </a:pPr>
            <a:r>
              <a:rPr lang="en-US" sz="2000" b="1" dirty="0">
                <a:solidFill>
                  <a:srgbClr val="FFFFFF"/>
                </a:solidFill>
                <a:latin typeface="Inter Bold" pitchFamily="34" charset="0"/>
                <a:ea typeface="Inter Bold" pitchFamily="34" charset="-122"/>
                <a:cs typeface="Inter Bold" pitchFamily="34" charset="-120"/>
              </a:rPr>
              <a:t>Customer experience:</a:t>
            </a:r>
            <a:r>
              <a:rPr lang="en-US" sz="2000" dirty="0">
                <a:solidFill>
                  <a:srgbClr val="FFFFFF"/>
                </a:solidFill>
                <a:latin typeface="Inter" pitchFamily="34" charset="0"/>
                <a:ea typeface="Inter" pitchFamily="34" charset="-122"/>
                <a:cs typeface="Inter" pitchFamily="34" charset="-120"/>
              </a:rPr>
              <a:t> a tappable deeplink replaces "go to Settings &gt; Display &gt; Navigation bar".</a:t>
            </a:r>
          </a:p>
          <a:p>
            <a:pPr algn="l">
              <a:lnSpc>
                <a:spcPct val="90000"/>
              </a:lnSpc>
              <a:buSzPct val="100000"/>
            </a:pPr>
            <a:endParaRPr lang="en-US" sz="2000" dirty="0"/>
          </a:p>
          <a:p>
            <a:pPr marL="325120" indent="-325120" algn="l">
              <a:lnSpc>
                <a:spcPct val="90000"/>
              </a:lnSpc>
              <a:buSzPct val="100000"/>
              <a:buChar char="•"/>
            </a:pPr>
            <a:r>
              <a:rPr lang="en-US" sz="2000" b="1" dirty="0">
                <a:solidFill>
                  <a:srgbClr val="FFFFFF"/>
                </a:solidFill>
                <a:latin typeface="Inter Bold" pitchFamily="34" charset="0"/>
                <a:ea typeface="Inter Bold" pitchFamily="34" charset="-122"/>
                <a:cs typeface="Inter Bold" pitchFamily="34" charset="-120"/>
              </a:rPr>
              <a:t>Safety and trust:</a:t>
            </a:r>
            <a:r>
              <a:rPr lang="en-US" sz="2000" dirty="0">
                <a:solidFill>
                  <a:srgbClr val="FFFFFF"/>
                </a:solidFill>
                <a:latin typeface="Inter" pitchFamily="34" charset="0"/>
                <a:ea typeface="Inter" pitchFamily="34" charset="-122"/>
                <a:cs typeface="Inter" pitchFamily="34" charset="-120"/>
              </a:rPr>
              <a:t> no fabricated steps or links, and destructive actions always come last.</a:t>
            </a:r>
            <a:endParaRPr lang="en-US" sz="2000" dirty="0"/>
          </a:p>
        </p:txBody>
      </p:sp>
      <p:sp>
        <p:nvSpPr>
          <p:cNvPr id="7" name="Shape 5"/>
          <p:cNvSpPr/>
          <p:nvPr/>
        </p:nvSpPr>
        <p:spPr>
          <a:xfrm>
            <a:off x="6172046" y="1567656"/>
            <a:ext cx="5486263" cy="4985544"/>
          </a:xfrm>
          <a:prstGeom prst="rect">
            <a:avLst/>
          </a:prstGeom>
          <a:noFill/>
          <a:ln w="25399">
            <a:solidFill>
              <a:srgbClr val="C9C2D5"/>
            </a:solidFill>
            <a:prstDash val="solid"/>
          </a:ln>
        </p:spPr>
      </p:sp>
      <p:sp>
        <p:nvSpPr>
          <p:cNvPr id="8" name="Text 6"/>
          <p:cNvSpPr/>
          <p:nvPr/>
        </p:nvSpPr>
        <p:spPr>
          <a:xfrm>
            <a:off x="6400640" y="1796256"/>
            <a:ext cx="5029074" cy="329109"/>
          </a:xfrm>
          <a:prstGeom prst="rect">
            <a:avLst/>
          </a:prstGeom>
          <a:noFill/>
          <a:ln/>
        </p:spPr>
        <p:txBody>
          <a:bodyPr wrap="none" lIns="0" tIns="0" rIns="0" bIns="0" rtlCol="0" anchor="t"/>
          <a:lstStyle/>
          <a:p>
            <a:pPr marL="0" indent="0" algn="l">
              <a:lnSpc>
                <a:spcPct val="90000"/>
              </a:lnSpc>
              <a:buNone/>
            </a:pPr>
            <a:r>
              <a:rPr lang="en-US" sz="2400" b="1" dirty="0">
                <a:solidFill>
                  <a:srgbClr val="000000"/>
                </a:solidFill>
                <a:latin typeface="Poppins Bold" pitchFamily="34" charset="0"/>
                <a:ea typeface="Poppins Bold" pitchFamily="34" charset="-122"/>
                <a:cs typeface="Poppins Bold" pitchFamily="34" charset="-120"/>
              </a:rPr>
              <a:t>Use case walkthrough</a:t>
            </a:r>
            <a:endParaRPr lang="en-US" sz="2400" dirty="0"/>
          </a:p>
        </p:txBody>
      </p:sp>
      <p:sp>
        <p:nvSpPr>
          <p:cNvPr id="9" name="Text 7"/>
          <p:cNvSpPr/>
          <p:nvPr/>
        </p:nvSpPr>
        <p:spPr>
          <a:xfrm>
            <a:off x="6400640" y="2353965"/>
            <a:ext cx="5029074" cy="1764209"/>
          </a:xfrm>
          <a:prstGeom prst="rect">
            <a:avLst/>
          </a:prstGeom>
          <a:noFill/>
          <a:ln/>
        </p:spPr>
        <p:txBody>
          <a:bodyPr wrap="square" lIns="0" tIns="0" rIns="0" bIns="0" rtlCol="0" anchor="t">
            <a:normAutofit lnSpcReduction="10000"/>
          </a:bodyPr>
          <a:lstStyle/>
          <a:p>
            <a:pPr marL="0" indent="0" algn="l">
              <a:lnSpc>
                <a:spcPct val="90000"/>
              </a:lnSpc>
              <a:spcAft>
                <a:spcPts val="1750"/>
              </a:spcAft>
              <a:buNone/>
            </a:pPr>
            <a:r>
              <a:rPr lang="en-US" sz="1600" b="1" dirty="0">
                <a:solidFill>
                  <a:srgbClr val="000000"/>
                </a:solidFill>
                <a:latin typeface="Inter Bold" pitchFamily="34" charset="0"/>
                <a:ea typeface="Inter Bold" pitchFamily="34" charset="-122"/>
                <a:cs typeface="Inter Bold" pitchFamily="34" charset="-120"/>
              </a:rPr>
              <a:t>Use case walkthrough:</a:t>
            </a:r>
            <a:r>
              <a:rPr lang="en-US" sz="1600" dirty="0">
                <a:solidFill>
                  <a:srgbClr val="000000"/>
                </a:solidFill>
                <a:latin typeface="Inter" pitchFamily="34" charset="0"/>
                <a:ea typeface="Inter" pitchFamily="34" charset="-122"/>
                <a:cs typeface="Inter" pitchFamily="34" charset="-120"/>
              </a:rPr>
              <a:t> a user reports "swipe gestures go the wrong way after installing an app". The engine returns "Follow these steps to perform this Swipe Navigation Troubleshooting", with an auto action linked to the navigation bar settings.</a:t>
            </a:r>
            <a:endParaRPr lang="en-US" sz="1600" dirty="0"/>
          </a:p>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Where it plugs in:</a:t>
            </a:r>
            <a:r>
              <a:rPr lang="en-US" sz="1600" dirty="0">
                <a:solidFill>
                  <a:srgbClr val="000000"/>
                </a:solidFill>
                <a:latin typeface="Inter" pitchFamily="34" charset="0"/>
                <a:ea typeface="Inter" pitchFamily="34" charset="-122"/>
                <a:cs typeface="Inter" pitchFamily="34" charset="-120"/>
              </a:rPr>
              <a:t> Bixby, the Samsung Members app and agent-assist tools.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862336"/>
          </a:xfrm>
          <a:prstGeom prst="rect">
            <a:avLst/>
          </a:prstGeom>
          <a:solidFill>
            <a:srgbClr val="E9EBF5"/>
          </a:solidFill>
          <a:ln/>
        </p:spPr>
      </p:sp>
      <p:sp>
        <p:nvSpPr>
          <p:cNvPr id="3" name="Text 1"/>
          <p:cNvSpPr/>
          <p:nvPr/>
        </p:nvSpPr>
        <p:spPr>
          <a:xfrm>
            <a:off x="533387" y="304800"/>
            <a:ext cx="11124922" cy="1097161"/>
          </a:xfrm>
          <a:prstGeom prst="rect">
            <a:avLst/>
          </a:prstGeom>
          <a:noFill/>
          <a:ln/>
        </p:spPr>
        <p:txBody>
          <a:bodyPr wrap="square" lIns="0" tIns="0" rIns="0" bIns="0" rtlCol="0" anchor="t">
            <a:normAutofit lnSpcReduction="10000"/>
          </a:bodyPr>
          <a:lstStyle/>
          <a:p>
            <a:pPr marL="0" indent="0" algn="l">
              <a:lnSpc>
                <a:spcPct val="90000"/>
              </a:lnSpc>
              <a:buNone/>
            </a:pPr>
            <a:r>
              <a:rPr lang="en-US" sz="4000" b="1" dirty="0">
                <a:solidFill>
                  <a:srgbClr val="704EA6"/>
                </a:solidFill>
                <a:latin typeface="Poppins Bold" pitchFamily="34" charset="0"/>
                <a:ea typeface="Poppins Bold" pitchFamily="34" charset="-122"/>
                <a:cs typeface="Poppins Bold" pitchFamily="34" charset="-120"/>
              </a:rPr>
              <a:t>Innovation highlights, results and limitations</a:t>
            </a:r>
            <a:endParaRPr lang="en-US" sz="4000" dirty="0"/>
          </a:p>
        </p:txBody>
      </p:sp>
      <p:sp>
        <p:nvSpPr>
          <p:cNvPr id="4" name="Shape 2"/>
          <p:cNvSpPr/>
          <p:nvPr/>
        </p:nvSpPr>
        <p:spPr>
          <a:xfrm>
            <a:off x="533387" y="1679773"/>
            <a:ext cx="3671200" cy="31651"/>
          </a:xfrm>
          <a:prstGeom prst="roundRect">
            <a:avLst>
              <a:gd name="adj" fmla="val 49998"/>
            </a:avLst>
          </a:prstGeom>
          <a:solidFill>
            <a:srgbClr val="704EA6"/>
          </a:solidFill>
          <a:ln/>
        </p:spPr>
      </p:sp>
      <p:sp>
        <p:nvSpPr>
          <p:cNvPr id="5" name="Shape 3"/>
          <p:cNvSpPr/>
          <p:nvPr/>
        </p:nvSpPr>
        <p:spPr>
          <a:xfrm>
            <a:off x="533387" y="2116237"/>
            <a:ext cx="5486263" cy="4436963"/>
          </a:xfrm>
          <a:prstGeom prst="rect">
            <a:avLst/>
          </a:prstGeom>
          <a:solidFill>
            <a:srgbClr val="E3DCEF"/>
          </a:solidFill>
          <a:ln/>
        </p:spPr>
      </p:sp>
      <p:sp>
        <p:nvSpPr>
          <p:cNvPr id="6" name="Text 4"/>
          <p:cNvSpPr/>
          <p:nvPr/>
        </p:nvSpPr>
        <p:spPr>
          <a:xfrm>
            <a:off x="736582" y="2319437"/>
            <a:ext cx="5079873" cy="3546872"/>
          </a:xfrm>
          <a:prstGeom prst="rect">
            <a:avLst/>
          </a:prstGeom>
          <a:noFill/>
          <a:ln/>
        </p:spPr>
        <p:txBody>
          <a:bodyPr wrap="square" lIns="0" tIns="0" rIns="0" bIns="0" rtlCol="0" anchor="t"/>
          <a:lstStyle/>
          <a:p>
            <a:pPr marL="0" indent="0" algn="l">
              <a:lnSpc>
                <a:spcPct val="90000"/>
              </a:lnSpc>
              <a:spcAft>
                <a:spcPts val="1750"/>
              </a:spcAft>
              <a:buNone/>
            </a:pPr>
            <a:r>
              <a:rPr lang="en-US" sz="1600" b="1" dirty="0">
                <a:solidFill>
                  <a:srgbClr val="000000"/>
                </a:solidFill>
                <a:latin typeface="Inter Bold" pitchFamily="34" charset="0"/>
                <a:ea typeface="Inter Bold" pitchFamily="34" charset="-122"/>
                <a:cs typeface="Inter Bold" pitchFamily="34" charset="-120"/>
              </a:rPr>
              <a:t>What Makes Our Solution Different?</a:t>
            </a:r>
            <a:endParaRPr lang="en-US" sz="1600" dirty="0"/>
          </a:p>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1.  Multi-register understanding</a:t>
            </a:r>
            <a:endParaRPr lang="en-US" sz="1600" dirty="0"/>
          </a:p>
          <a:p>
            <a:pPr marL="0" indent="0" algn="l">
              <a:lnSpc>
                <a:spcPct val="90000"/>
              </a:lnSpc>
              <a:spcAft>
                <a:spcPts val="1750"/>
              </a:spcAft>
              <a:buNone/>
            </a:pPr>
            <a:r>
              <a:rPr lang="en-US" sz="1600" dirty="0">
                <a:solidFill>
                  <a:srgbClr val="000000"/>
                </a:solidFill>
                <a:latin typeface="Inter" pitchFamily="34" charset="0"/>
                <a:ea typeface="Inter" pitchFamily="34" charset="-122"/>
                <a:cs typeface="Inter" pitchFamily="34" charset="-120"/>
              </a:rPr>
              <a:t>Formal + casual + keyword + frustrated + typo.</a:t>
            </a:r>
            <a:endParaRPr lang="en-US" sz="1600" dirty="0"/>
          </a:p>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2.  32-category symptom intelligence</a:t>
            </a:r>
            <a:endParaRPr lang="en-US" sz="1600" dirty="0"/>
          </a:p>
          <a:p>
            <a:pPr marL="0" indent="0" algn="l">
              <a:lnSpc>
                <a:spcPct val="90000"/>
              </a:lnSpc>
              <a:spcAft>
                <a:spcPts val="1750"/>
              </a:spcAft>
              <a:buNone/>
            </a:pPr>
            <a:r>
              <a:rPr lang="en-US" sz="1600" dirty="0">
                <a:solidFill>
                  <a:srgbClr val="000000"/>
                </a:solidFill>
                <a:latin typeface="Inter" pitchFamily="34" charset="0"/>
                <a:ea typeface="Inter" pitchFamily="34" charset="-122"/>
                <a:cs typeface="Inter" pitchFamily="34" charset="-120"/>
              </a:rPr>
              <a:t>The taxonomy extends beyond only screen problems.</a:t>
            </a:r>
            <a:endParaRPr lang="en-US" sz="1600" dirty="0"/>
          </a:p>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3.  Deterministic + Generative AI</a:t>
            </a:r>
            <a:endParaRPr lang="en-US" sz="1600" dirty="0"/>
          </a:p>
          <a:p>
            <a:pPr marL="0" indent="0" algn="l">
              <a:lnSpc>
                <a:spcPct val="90000"/>
              </a:lnSpc>
              <a:spcAft>
                <a:spcPts val="1750"/>
              </a:spcAft>
              <a:buNone/>
            </a:pPr>
            <a:r>
              <a:rPr lang="en-US" sz="1600" dirty="0">
                <a:solidFill>
                  <a:srgbClr val="000000"/>
                </a:solidFill>
                <a:latin typeface="Inter" pitchFamily="34" charset="0"/>
                <a:ea typeface="Inter" pitchFamily="34" charset="-122"/>
                <a:cs typeface="Inter" pitchFamily="34" charset="-120"/>
              </a:rPr>
              <a:t>Rules handle known patterns while LLMs provide controlled fallback and enrichment.</a:t>
            </a:r>
            <a:endParaRPr lang="en-US" sz="1600" dirty="0"/>
          </a:p>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4.  Semantic deeplink mapping</a:t>
            </a:r>
            <a:endParaRPr lang="en-US" sz="1600" dirty="0"/>
          </a:p>
          <a:p>
            <a:pPr marL="0" indent="0" algn="l">
              <a:lnSpc>
                <a:spcPct val="90000"/>
              </a:lnSpc>
              <a:buNone/>
            </a:pPr>
            <a:r>
              <a:rPr lang="en-US" sz="1600" dirty="0">
                <a:solidFill>
                  <a:srgbClr val="000000"/>
                </a:solidFill>
                <a:latin typeface="Inter" pitchFamily="34" charset="0"/>
                <a:ea typeface="Inter" pitchFamily="34" charset="-122"/>
                <a:cs typeface="Inter" pitchFamily="34" charset="-120"/>
              </a:rPr>
              <a:t>Connects natural-language actions to device operations.</a:t>
            </a:r>
            <a:endParaRPr lang="en-US" sz="1600" dirty="0"/>
          </a:p>
        </p:txBody>
      </p:sp>
      <p:sp>
        <p:nvSpPr>
          <p:cNvPr id="7" name="Shape 5"/>
          <p:cNvSpPr/>
          <p:nvPr/>
        </p:nvSpPr>
        <p:spPr>
          <a:xfrm>
            <a:off x="6172046" y="2116237"/>
            <a:ext cx="5486263" cy="4436963"/>
          </a:xfrm>
          <a:prstGeom prst="rect">
            <a:avLst/>
          </a:prstGeom>
          <a:noFill/>
          <a:ln w="25399">
            <a:solidFill>
              <a:srgbClr val="C9C2D5"/>
            </a:solidFill>
            <a:prstDash val="solid"/>
          </a:ln>
        </p:spPr>
      </p:sp>
      <p:sp>
        <p:nvSpPr>
          <p:cNvPr id="8" name="Text 6"/>
          <p:cNvSpPr/>
          <p:nvPr/>
        </p:nvSpPr>
        <p:spPr>
          <a:xfrm>
            <a:off x="6400640" y="2344837"/>
            <a:ext cx="5029074" cy="2431554"/>
          </a:xfrm>
          <a:prstGeom prst="rect">
            <a:avLst/>
          </a:prstGeom>
          <a:noFill/>
          <a:ln/>
        </p:spPr>
        <p:txBody>
          <a:bodyPr wrap="square" lIns="0" tIns="0" rIns="0" bIns="0" rtlCol="0" anchor="t">
            <a:normAutofit lnSpcReduction="10000"/>
          </a:bodyPr>
          <a:lstStyle/>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5.  Device-aware semantic cache</a:t>
            </a:r>
            <a:endParaRPr lang="en-US" sz="1600" dirty="0"/>
          </a:p>
          <a:p>
            <a:pPr marL="0" indent="0" algn="l">
              <a:lnSpc>
                <a:spcPct val="90000"/>
              </a:lnSpc>
              <a:spcAft>
                <a:spcPts val="1750"/>
              </a:spcAft>
              <a:buNone/>
            </a:pPr>
            <a:r>
              <a:rPr lang="en-US" sz="1600" dirty="0">
                <a:solidFill>
                  <a:srgbClr val="000000"/>
                </a:solidFill>
                <a:latin typeface="Inter" pitchFamily="34" charset="0"/>
                <a:ea typeface="Inter" pitchFamily="34" charset="-122"/>
                <a:cs typeface="Inter" pitchFamily="34" charset="-120"/>
              </a:rPr>
              <a:t>Similar queries are matched while maintaining device isolation.</a:t>
            </a:r>
            <a:endParaRPr lang="en-US" sz="1600" dirty="0"/>
          </a:p>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6.  Grounded response generation</a:t>
            </a:r>
            <a:endParaRPr lang="en-US" sz="1600" dirty="0"/>
          </a:p>
          <a:p>
            <a:pPr marL="0" indent="0" algn="l">
              <a:lnSpc>
                <a:spcPct val="90000"/>
              </a:lnSpc>
              <a:spcAft>
                <a:spcPts val="1750"/>
              </a:spcAft>
              <a:buNone/>
            </a:pPr>
            <a:r>
              <a:rPr lang="en-US" sz="1600" dirty="0">
                <a:solidFill>
                  <a:srgbClr val="000000"/>
                </a:solidFill>
                <a:latin typeface="Inter" pitchFamily="34" charset="0"/>
                <a:ea typeface="Inter" pitchFamily="34" charset="-122"/>
                <a:cs typeface="Inter" pitchFamily="34" charset="-120"/>
              </a:rPr>
              <a:t>Troubleshooting actions are derived from the supplied troubleshooting knowledge.</a:t>
            </a:r>
            <a:endParaRPr lang="en-US" sz="1600" dirty="0"/>
          </a:p>
          <a:p>
            <a:pPr marL="0" indent="0" algn="l">
              <a:lnSpc>
                <a:spcPct val="90000"/>
              </a:lnSpc>
              <a:buNone/>
            </a:pPr>
            <a:r>
              <a:rPr lang="en-US" sz="1600" b="1" dirty="0">
                <a:solidFill>
                  <a:srgbClr val="000000"/>
                </a:solidFill>
                <a:latin typeface="Inter Bold" pitchFamily="34" charset="0"/>
                <a:ea typeface="Inter Bold" pitchFamily="34" charset="-122"/>
                <a:cs typeface="Inter Bold" pitchFamily="34" charset="-120"/>
              </a:rPr>
              <a:t>7.  Zero-URL-leak protection</a:t>
            </a:r>
            <a:endParaRPr lang="en-US" sz="1600" dirty="0"/>
          </a:p>
          <a:p>
            <a:pPr marL="0" indent="0" algn="l">
              <a:lnSpc>
                <a:spcPct val="90000"/>
              </a:lnSpc>
              <a:buNone/>
            </a:pPr>
            <a:r>
              <a:rPr lang="en-US" sz="1600" dirty="0">
                <a:solidFill>
                  <a:srgbClr val="000000"/>
                </a:solidFill>
                <a:latin typeface="Inter" pitchFamily="34" charset="0"/>
                <a:ea typeface="Inter" pitchFamily="34" charset="-122"/>
                <a:cs typeface="Inter" pitchFamily="34" charset="-120"/>
              </a:rPr>
              <a:t>Prevents unwanted URLs from leaking into the final response.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341140"/>
          </a:xfrm>
          <a:prstGeom prst="rect">
            <a:avLst/>
          </a:prstGeom>
          <a:solidFill>
            <a:srgbClr val="E9EBF5"/>
          </a:solidFill>
          <a:ln/>
        </p:spPr>
      </p:sp>
      <p:sp>
        <p:nvSpPr>
          <p:cNvPr id="3" name="Text 1"/>
          <p:cNvSpPr/>
          <p:nvPr/>
        </p:nvSpPr>
        <p:spPr>
          <a:xfrm>
            <a:off x="533387" y="304800"/>
            <a:ext cx="11124922" cy="548580"/>
          </a:xfrm>
          <a:prstGeom prst="rect">
            <a:avLst/>
          </a:prstGeom>
          <a:noFill/>
          <a:ln/>
        </p:spPr>
        <p:txBody>
          <a:bodyPr wrap="none" lIns="0" tIns="0" rIns="0" bIns="0" rtlCol="0" anchor="t"/>
          <a:lstStyle/>
          <a:p>
            <a:pPr marL="0" indent="0" algn="l">
              <a:lnSpc>
                <a:spcPct val="90000"/>
              </a:lnSpc>
              <a:buNone/>
            </a:pPr>
            <a:r>
              <a:rPr lang="en-US" sz="4000" b="1" dirty="0">
                <a:solidFill>
                  <a:srgbClr val="704EA6"/>
                </a:solidFill>
                <a:latin typeface="Poppins Bold" pitchFamily="34" charset="0"/>
                <a:ea typeface="Poppins Bold" pitchFamily="34" charset="-122"/>
                <a:cs typeface="Poppins Bold" pitchFamily="34" charset="-120"/>
              </a:rPr>
              <a:t>What’s next</a:t>
            </a:r>
            <a:endParaRPr lang="en-US" sz="4000" dirty="0"/>
          </a:p>
        </p:txBody>
      </p:sp>
      <p:sp>
        <p:nvSpPr>
          <p:cNvPr id="4" name="Shape 2"/>
          <p:cNvSpPr/>
          <p:nvPr/>
        </p:nvSpPr>
        <p:spPr>
          <a:xfrm>
            <a:off x="533387" y="1131193"/>
            <a:ext cx="3671200" cy="31651"/>
          </a:xfrm>
          <a:prstGeom prst="roundRect">
            <a:avLst>
              <a:gd name="adj" fmla="val 49998"/>
            </a:avLst>
          </a:prstGeom>
          <a:solidFill>
            <a:srgbClr val="704EA6"/>
          </a:solidFill>
          <a:ln/>
        </p:spPr>
      </p:sp>
      <p:sp>
        <p:nvSpPr>
          <p:cNvPr id="5" name="Shape 3"/>
          <p:cNvSpPr/>
          <p:nvPr/>
        </p:nvSpPr>
        <p:spPr>
          <a:xfrm>
            <a:off x="533387" y="1595041"/>
            <a:ext cx="5486263" cy="1551087"/>
          </a:xfrm>
          <a:prstGeom prst="rect">
            <a:avLst/>
          </a:prstGeom>
          <a:solidFill>
            <a:srgbClr val="E3DCEF"/>
          </a:solidFill>
          <a:ln/>
        </p:spPr>
      </p:sp>
      <p:sp>
        <p:nvSpPr>
          <p:cNvPr id="6" name="Text 4"/>
          <p:cNvSpPr/>
          <p:nvPr/>
        </p:nvSpPr>
        <p:spPr>
          <a:xfrm>
            <a:off x="736582" y="1798241"/>
            <a:ext cx="695506" cy="203200"/>
          </a:xfrm>
          <a:prstGeom prst="rect">
            <a:avLst/>
          </a:prstGeom>
          <a:noFill/>
          <a:ln/>
        </p:spPr>
        <p:txBody>
          <a:bodyPr wrap="none" lIns="0" tIns="0" rIns="0" bIns="0" rtlCol="0" anchor="t"/>
          <a:lstStyle/>
          <a:p>
            <a:pPr marL="0" indent="0" algn="l">
              <a:lnSpc>
                <a:spcPct val="83000"/>
              </a:lnSpc>
              <a:buNone/>
            </a:pPr>
            <a:r>
              <a:rPr lang="en-US" sz="1600" dirty="0">
                <a:solidFill>
                  <a:srgbClr val="704EA6"/>
                </a:solidFill>
                <a:latin typeface="Inter SemiBold" pitchFamily="34" charset="0"/>
                <a:ea typeface="Inter SemiBold" pitchFamily="34" charset="-122"/>
                <a:cs typeface="Inter SemiBold" pitchFamily="34" charset="-120"/>
              </a:rPr>
              <a:t>1</a:t>
            </a:r>
            <a:endParaRPr lang="en-US" sz="1600" dirty="0"/>
          </a:p>
        </p:txBody>
      </p:sp>
      <p:sp>
        <p:nvSpPr>
          <p:cNvPr id="7" name="Text 5"/>
          <p:cNvSpPr/>
          <p:nvPr/>
        </p:nvSpPr>
        <p:spPr>
          <a:xfrm>
            <a:off x="736582" y="2082701"/>
            <a:ext cx="5079873" cy="438745"/>
          </a:xfrm>
          <a:prstGeom prst="rect">
            <a:avLst/>
          </a:prstGeom>
          <a:noFill/>
          <a:ln/>
        </p:spPr>
        <p:txBody>
          <a:bodyPr wrap="square" lIns="0" tIns="0" rIns="0" bIns="0" rtlCol="0" anchor="t">
            <a:normAutofit lnSpcReduction="10000"/>
          </a:bodyPr>
          <a:lstStyle/>
          <a:p>
            <a:pPr marL="0" indent="0" algn="l">
              <a:lnSpc>
                <a:spcPct val="90000"/>
              </a:lnSpc>
              <a:buNone/>
            </a:pPr>
            <a:r>
              <a:rPr lang="en-US" sz="1600" dirty="0">
                <a:solidFill>
                  <a:srgbClr val="000000"/>
                </a:solidFill>
                <a:latin typeface="Inter" pitchFamily="34" charset="0"/>
                <a:ea typeface="Inter" pitchFamily="34" charset="-122"/>
                <a:cs typeface="Inter" pitchFamily="34" charset="-120"/>
              </a:rPr>
              <a:t>Replace the keyword taxonomy with a learned intent classifier.</a:t>
            </a:r>
            <a:endParaRPr lang="en-US" sz="1600" dirty="0"/>
          </a:p>
        </p:txBody>
      </p:sp>
      <p:sp>
        <p:nvSpPr>
          <p:cNvPr id="8" name="Shape 6"/>
          <p:cNvSpPr/>
          <p:nvPr/>
        </p:nvSpPr>
        <p:spPr>
          <a:xfrm>
            <a:off x="6172046" y="1595041"/>
            <a:ext cx="5486263" cy="1551087"/>
          </a:xfrm>
          <a:prstGeom prst="rect">
            <a:avLst/>
          </a:prstGeom>
          <a:noFill/>
          <a:ln w="25399">
            <a:solidFill>
              <a:srgbClr val="C9C2D5"/>
            </a:solidFill>
            <a:prstDash val="solid"/>
          </a:ln>
        </p:spPr>
      </p:sp>
      <p:sp>
        <p:nvSpPr>
          <p:cNvPr id="9" name="Text 7"/>
          <p:cNvSpPr/>
          <p:nvPr/>
        </p:nvSpPr>
        <p:spPr>
          <a:xfrm>
            <a:off x="6400640" y="1823641"/>
            <a:ext cx="736185" cy="203200"/>
          </a:xfrm>
          <a:prstGeom prst="rect">
            <a:avLst/>
          </a:prstGeom>
          <a:noFill/>
          <a:ln/>
        </p:spPr>
        <p:txBody>
          <a:bodyPr wrap="none" lIns="0" tIns="0" rIns="0" bIns="0" rtlCol="0" anchor="t"/>
          <a:lstStyle/>
          <a:p>
            <a:pPr marL="0" indent="0" algn="l">
              <a:lnSpc>
                <a:spcPct val="83000"/>
              </a:lnSpc>
              <a:buNone/>
            </a:pPr>
            <a:r>
              <a:rPr lang="en-US" sz="1600" dirty="0">
                <a:solidFill>
                  <a:srgbClr val="704EA6"/>
                </a:solidFill>
                <a:latin typeface="Inter SemiBold" pitchFamily="34" charset="0"/>
                <a:ea typeface="Inter SemiBold" pitchFamily="34" charset="-122"/>
                <a:cs typeface="Inter SemiBold" pitchFamily="34" charset="-120"/>
              </a:rPr>
              <a:t>2</a:t>
            </a:r>
            <a:endParaRPr lang="en-US" sz="1600" dirty="0"/>
          </a:p>
        </p:txBody>
      </p:sp>
      <p:sp>
        <p:nvSpPr>
          <p:cNvPr id="10" name="Text 8"/>
          <p:cNvSpPr/>
          <p:nvPr/>
        </p:nvSpPr>
        <p:spPr>
          <a:xfrm>
            <a:off x="6400640" y="2108101"/>
            <a:ext cx="5029074" cy="438745"/>
          </a:xfrm>
          <a:prstGeom prst="rect">
            <a:avLst/>
          </a:prstGeom>
          <a:noFill/>
          <a:ln/>
        </p:spPr>
        <p:txBody>
          <a:bodyPr wrap="square" lIns="0" tIns="0" rIns="0" bIns="0" rtlCol="0" anchor="t">
            <a:normAutofit lnSpcReduction="10000"/>
          </a:bodyPr>
          <a:lstStyle/>
          <a:p>
            <a:pPr marL="0" indent="0" algn="l">
              <a:lnSpc>
                <a:spcPct val="90000"/>
              </a:lnSpc>
              <a:buNone/>
            </a:pPr>
            <a:r>
              <a:rPr lang="en-US" sz="1600" dirty="0">
                <a:solidFill>
                  <a:srgbClr val="000000"/>
                </a:solidFill>
                <a:latin typeface="Inter" pitchFamily="34" charset="0"/>
                <a:ea typeface="Inter" pitchFamily="34" charset="-122"/>
                <a:cs typeface="Inter" pitchFamily="34" charset="-120"/>
              </a:rPr>
              <a:t>Handle multi-intent complaints, and clarify when a complaint is ambiguous.</a:t>
            </a:r>
            <a:endParaRPr lang="en-US" sz="1600" dirty="0"/>
          </a:p>
        </p:txBody>
      </p:sp>
      <p:sp>
        <p:nvSpPr>
          <p:cNvPr id="11" name="Shape 9"/>
          <p:cNvSpPr/>
          <p:nvPr/>
        </p:nvSpPr>
        <p:spPr>
          <a:xfrm>
            <a:off x="533387" y="3298428"/>
            <a:ext cx="5486263" cy="1551285"/>
          </a:xfrm>
          <a:prstGeom prst="rect">
            <a:avLst/>
          </a:prstGeom>
          <a:solidFill>
            <a:srgbClr val="E3DCEF"/>
          </a:solidFill>
          <a:ln/>
        </p:spPr>
      </p:sp>
      <p:sp>
        <p:nvSpPr>
          <p:cNvPr id="12" name="Text 10"/>
          <p:cNvSpPr/>
          <p:nvPr/>
        </p:nvSpPr>
        <p:spPr>
          <a:xfrm>
            <a:off x="736582" y="3501628"/>
            <a:ext cx="738864" cy="203200"/>
          </a:xfrm>
          <a:prstGeom prst="rect">
            <a:avLst/>
          </a:prstGeom>
          <a:noFill/>
          <a:ln/>
        </p:spPr>
        <p:txBody>
          <a:bodyPr wrap="none" lIns="0" tIns="0" rIns="0" bIns="0" rtlCol="0" anchor="t"/>
          <a:lstStyle/>
          <a:p>
            <a:pPr marL="0" indent="0" algn="l">
              <a:lnSpc>
                <a:spcPct val="83000"/>
              </a:lnSpc>
              <a:buNone/>
            </a:pPr>
            <a:r>
              <a:rPr lang="en-US" sz="1600" dirty="0">
                <a:solidFill>
                  <a:srgbClr val="704EA6"/>
                </a:solidFill>
                <a:latin typeface="Inter SemiBold" pitchFamily="34" charset="0"/>
                <a:ea typeface="Inter SemiBold" pitchFamily="34" charset="-122"/>
                <a:cs typeface="Inter SemiBold" pitchFamily="34" charset="-120"/>
              </a:rPr>
              <a:t>3</a:t>
            </a:r>
            <a:endParaRPr lang="en-US" sz="1600" dirty="0"/>
          </a:p>
        </p:txBody>
      </p:sp>
      <p:sp>
        <p:nvSpPr>
          <p:cNvPr id="13" name="Text 11"/>
          <p:cNvSpPr/>
          <p:nvPr/>
        </p:nvSpPr>
        <p:spPr>
          <a:xfrm>
            <a:off x="736582" y="3786088"/>
            <a:ext cx="5079873" cy="438745"/>
          </a:xfrm>
          <a:prstGeom prst="rect">
            <a:avLst/>
          </a:prstGeom>
          <a:noFill/>
          <a:ln/>
        </p:spPr>
        <p:txBody>
          <a:bodyPr wrap="square" lIns="0" tIns="0" rIns="0" bIns="0" rtlCol="0" anchor="t">
            <a:normAutofit lnSpcReduction="10000"/>
          </a:bodyPr>
          <a:lstStyle/>
          <a:p>
            <a:pPr marL="0" indent="0" algn="l">
              <a:lnSpc>
                <a:spcPct val="90000"/>
              </a:lnSpc>
              <a:buNone/>
            </a:pPr>
            <a:r>
              <a:rPr lang="en-US" sz="1600" dirty="0">
                <a:solidFill>
                  <a:srgbClr val="000000"/>
                </a:solidFill>
                <a:latin typeface="Inter" pitchFamily="34" charset="0"/>
                <a:ea typeface="Inter" pitchFamily="34" charset="-122"/>
                <a:cs typeface="Inter" pitchFamily="34" charset="-120"/>
              </a:rPr>
              <a:t>Build a graded ground-truth set to score step accuracy (0–3) and deeplink relevance (0–2).</a:t>
            </a:r>
            <a:endParaRPr lang="en-US" sz="1600" dirty="0"/>
          </a:p>
        </p:txBody>
      </p:sp>
      <p:sp>
        <p:nvSpPr>
          <p:cNvPr id="14" name="Shape 12"/>
          <p:cNvSpPr/>
          <p:nvPr/>
        </p:nvSpPr>
        <p:spPr>
          <a:xfrm>
            <a:off x="6172046" y="3298428"/>
            <a:ext cx="5486263" cy="1551285"/>
          </a:xfrm>
          <a:prstGeom prst="rect">
            <a:avLst/>
          </a:prstGeom>
          <a:noFill/>
          <a:ln w="25399">
            <a:solidFill>
              <a:srgbClr val="C9C2D5"/>
            </a:solidFill>
            <a:prstDash val="solid"/>
          </a:ln>
        </p:spPr>
      </p:sp>
      <p:sp>
        <p:nvSpPr>
          <p:cNvPr id="15" name="Text 13"/>
          <p:cNvSpPr/>
          <p:nvPr/>
        </p:nvSpPr>
        <p:spPr>
          <a:xfrm>
            <a:off x="6400640" y="3527028"/>
            <a:ext cx="744916" cy="203200"/>
          </a:xfrm>
          <a:prstGeom prst="rect">
            <a:avLst/>
          </a:prstGeom>
          <a:noFill/>
          <a:ln/>
        </p:spPr>
        <p:txBody>
          <a:bodyPr wrap="none" lIns="0" tIns="0" rIns="0" bIns="0" rtlCol="0" anchor="t"/>
          <a:lstStyle/>
          <a:p>
            <a:pPr marL="0" indent="0" algn="l">
              <a:lnSpc>
                <a:spcPct val="83000"/>
              </a:lnSpc>
              <a:buNone/>
            </a:pPr>
            <a:r>
              <a:rPr lang="en-US" sz="1600" dirty="0">
                <a:solidFill>
                  <a:srgbClr val="704EA6"/>
                </a:solidFill>
                <a:latin typeface="Inter SemiBold" pitchFamily="34" charset="0"/>
                <a:ea typeface="Inter SemiBold" pitchFamily="34" charset="-122"/>
                <a:cs typeface="Inter SemiBold" pitchFamily="34" charset="-120"/>
              </a:rPr>
              <a:t>4</a:t>
            </a:r>
            <a:endParaRPr lang="en-US" sz="1600" dirty="0"/>
          </a:p>
        </p:txBody>
      </p:sp>
      <p:sp>
        <p:nvSpPr>
          <p:cNvPr id="16" name="Text 14"/>
          <p:cNvSpPr/>
          <p:nvPr/>
        </p:nvSpPr>
        <p:spPr>
          <a:xfrm>
            <a:off x="6400640" y="3811488"/>
            <a:ext cx="5029074" cy="658118"/>
          </a:xfrm>
          <a:prstGeom prst="rect">
            <a:avLst/>
          </a:prstGeom>
          <a:noFill/>
          <a:ln/>
        </p:spPr>
        <p:txBody>
          <a:bodyPr wrap="square" lIns="0" tIns="0" rIns="0" bIns="0" rtlCol="0" anchor="t">
            <a:normAutofit lnSpcReduction="10000"/>
          </a:bodyPr>
          <a:lstStyle/>
          <a:p>
            <a:pPr marL="0" indent="0" algn="l">
              <a:lnSpc>
                <a:spcPct val="90000"/>
              </a:lnSpc>
              <a:buNone/>
            </a:pPr>
            <a:r>
              <a:rPr lang="en-US" sz="1600" dirty="0">
                <a:solidFill>
                  <a:srgbClr val="000000"/>
                </a:solidFill>
                <a:latin typeface="Inter" pitchFamily="34" charset="0"/>
                <a:ea typeface="Inter" pitchFamily="34" charset="-122"/>
                <a:cs typeface="Inter" pitchFamily="34" charset="-120"/>
              </a:rPr>
              <a:t>Scale the cache with bucketed or ANN lookup, since brute force reaches about 105 ms at 5,000 entries.</a:t>
            </a:r>
            <a:endParaRPr lang="en-US" sz="1600" dirty="0"/>
          </a:p>
        </p:txBody>
      </p:sp>
      <p:sp>
        <p:nvSpPr>
          <p:cNvPr id="17" name="Shape 15"/>
          <p:cNvSpPr/>
          <p:nvPr/>
        </p:nvSpPr>
        <p:spPr>
          <a:xfrm>
            <a:off x="533387" y="5002014"/>
            <a:ext cx="5486263" cy="1551186"/>
          </a:xfrm>
          <a:prstGeom prst="rect">
            <a:avLst/>
          </a:prstGeom>
          <a:solidFill>
            <a:srgbClr val="E3DCEF"/>
          </a:solidFill>
          <a:ln/>
        </p:spPr>
      </p:sp>
      <p:sp>
        <p:nvSpPr>
          <p:cNvPr id="18" name="Text 16"/>
          <p:cNvSpPr/>
          <p:nvPr/>
        </p:nvSpPr>
        <p:spPr>
          <a:xfrm>
            <a:off x="736582" y="5205214"/>
            <a:ext cx="734002" cy="203200"/>
          </a:xfrm>
          <a:prstGeom prst="rect">
            <a:avLst/>
          </a:prstGeom>
          <a:noFill/>
          <a:ln/>
        </p:spPr>
        <p:txBody>
          <a:bodyPr wrap="none" lIns="0" tIns="0" rIns="0" bIns="0" rtlCol="0" anchor="t"/>
          <a:lstStyle/>
          <a:p>
            <a:pPr marL="0" indent="0" algn="l">
              <a:lnSpc>
                <a:spcPct val="83000"/>
              </a:lnSpc>
              <a:buNone/>
            </a:pPr>
            <a:r>
              <a:rPr lang="en-US" sz="1600" dirty="0">
                <a:solidFill>
                  <a:srgbClr val="704EA6"/>
                </a:solidFill>
                <a:latin typeface="Inter SemiBold" pitchFamily="34" charset="0"/>
                <a:ea typeface="Inter SemiBold" pitchFamily="34" charset="-122"/>
                <a:cs typeface="Inter SemiBold" pitchFamily="34" charset="-120"/>
              </a:rPr>
              <a:t>5</a:t>
            </a:r>
            <a:endParaRPr lang="en-US" sz="1600" dirty="0"/>
          </a:p>
        </p:txBody>
      </p:sp>
      <p:sp>
        <p:nvSpPr>
          <p:cNvPr id="19" name="Text 17"/>
          <p:cNvSpPr/>
          <p:nvPr/>
        </p:nvSpPr>
        <p:spPr>
          <a:xfrm>
            <a:off x="736582" y="5489674"/>
            <a:ext cx="5079873" cy="438745"/>
          </a:xfrm>
          <a:prstGeom prst="rect">
            <a:avLst/>
          </a:prstGeom>
          <a:noFill/>
          <a:ln/>
        </p:spPr>
        <p:txBody>
          <a:bodyPr wrap="square" lIns="0" tIns="0" rIns="0" bIns="0" rtlCol="0" anchor="t">
            <a:normAutofit lnSpcReduction="10000"/>
          </a:bodyPr>
          <a:lstStyle/>
          <a:p>
            <a:pPr marL="0" indent="0" algn="l">
              <a:lnSpc>
                <a:spcPct val="90000"/>
              </a:lnSpc>
              <a:buNone/>
            </a:pPr>
            <a:r>
              <a:rPr lang="en-US" sz="1600" dirty="0">
                <a:solidFill>
                  <a:srgbClr val="000000"/>
                </a:solidFill>
                <a:latin typeface="Inter" pitchFamily="34" charset="0"/>
                <a:ea typeface="Inter" pitchFamily="34" charset="-122"/>
                <a:cs typeface="Inter" pitchFamily="34" charset="-120"/>
              </a:rPr>
              <a:t>Persist the cache in Redis or a vector store, and add a feedback loop from "did this fix it?" signals.</a:t>
            </a:r>
            <a:endParaRPr lang="en-US" sz="1600" dirty="0"/>
          </a:p>
        </p:txBody>
      </p:sp>
      <p:sp>
        <p:nvSpPr>
          <p:cNvPr id="20" name="Shape 18"/>
          <p:cNvSpPr/>
          <p:nvPr/>
        </p:nvSpPr>
        <p:spPr>
          <a:xfrm>
            <a:off x="6172046" y="5002014"/>
            <a:ext cx="5486263" cy="1551186"/>
          </a:xfrm>
          <a:prstGeom prst="rect">
            <a:avLst/>
          </a:prstGeom>
          <a:noFill/>
          <a:ln w="25399">
            <a:solidFill>
              <a:srgbClr val="C9C2D5"/>
            </a:solidFill>
            <a:prstDash val="solid"/>
          </a:ln>
        </p:spPr>
      </p:sp>
      <p:sp>
        <p:nvSpPr>
          <p:cNvPr id="21" name="Text 19"/>
          <p:cNvSpPr/>
          <p:nvPr/>
        </p:nvSpPr>
        <p:spPr>
          <a:xfrm>
            <a:off x="6400640" y="5230614"/>
            <a:ext cx="739558" cy="203200"/>
          </a:xfrm>
          <a:prstGeom prst="rect">
            <a:avLst/>
          </a:prstGeom>
          <a:noFill/>
          <a:ln/>
        </p:spPr>
        <p:txBody>
          <a:bodyPr wrap="none" lIns="0" tIns="0" rIns="0" bIns="0" rtlCol="0" anchor="t"/>
          <a:lstStyle/>
          <a:p>
            <a:pPr marL="0" indent="0" algn="l">
              <a:lnSpc>
                <a:spcPct val="83000"/>
              </a:lnSpc>
              <a:buNone/>
            </a:pPr>
            <a:r>
              <a:rPr lang="en-US" sz="1600" dirty="0">
                <a:solidFill>
                  <a:srgbClr val="704EA6"/>
                </a:solidFill>
                <a:latin typeface="Inter SemiBold" pitchFamily="34" charset="0"/>
                <a:ea typeface="Inter SemiBold" pitchFamily="34" charset="-122"/>
                <a:cs typeface="Inter SemiBold" pitchFamily="34" charset="-120"/>
              </a:rPr>
              <a:t>6</a:t>
            </a:r>
            <a:endParaRPr lang="en-US" sz="1600" dirty="0"/>
          </a:p>
        </p:txBody>
      </p:sp>
      <p:sp>
        <p:nvSpPr>
          <p:cNvPr id="22" name="Text 20"/>
          <p:cNvSpPr/>
          <p:nvPr/>
        </p:nvSpPr>
        <p:spPr>
          <a:xfrm>
            <a:off x="6400640" y="5515074"/>
            <a:ext cx="5257668" cy="219373"/>
          </a:xfrm>
          <a:prstGeom prst="rect">
            <a:avLst/>
          </a:prstGeom>
          <a:noFill/>
          <a:ln/>
        </p:spPr>
        <p:txBody>
          <a:bodyPr wrap="none" lIns="0" tIns="0" rIns="0" bIns="0" rtlCol="0" anchor="t"/>
          <a:lstStyle/>
          <a:p>
            <a:pPr marL="0" indent="0" algn="l">
              <a:lnSpc>
                <a:spcPct val="90000"/>
              </a:lnSpc>
              <a:buNone/>
            </a:pPr>
            <a:r>
              <a:rPr lang="en-US" sz="1600" dirty="0">
                <a:solidFill>
                  <a:srgbClr val="000000"/>
                </a:solidFill>
                <a:latin typeface="Inter" pitchFamily="34" charset="0"/>
                <a:ea typeface="Inter" pitchFamily="34" charset="-122"/>
                <a:cs typeface="Inter" pitchFamily="34" charset="-120"/>
              </a:rPr>
              <a:t>Multilingual support.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3387" y="304800"/>
            <a:ext cx="11124922" cy="548580"/>
          </a:xfrm>
          <a:prstGeom prst="rect">
            <a:avLst/>
          </a:prstGeom>
          <a:noFill/>
          <a:ln/>
        </p:spPr>
        <p:txBody>
          <a:bodyPr wrap="none" lIns="0" tIns="0" rIns="0" bIns="0" rtlCol="0" anchor="t"/>
          <a:lstStyle/>
          <a:p>
            <a:pPr marL="0" indent="0" algn="l">
              <a:lnSpc>
                <a:spcPct val="90000"/>
              </a:lnSpc>
              <a:buNone/>
            </a:pPr>
            <a:r>
              <a:rPr lang="en-US" sz="4000" b="1" dirty="0">
                <a:solidFill>
                  <a:srgbClr val="704EA6"/>
                </a:solidFill>
                <a:latin typeface="Poppins Bold" pitchFamily="34" charset="0"/>
                <a:ea typeface="Poppins Bold" pitchFamily="34" charset="-122"/>
                <a:cs typeface="Poppins Bold" pitchFamily="34" charset="-120"/>
              </a:rPr>
              <a:t>Brownie points slide( differentiation)</a:t>
            </a:r>
            <a:endParaRPr lang="en-US" sz="4000" dirty="0"/>
          </a:p>
        </p:txBody>
      </p:sp>
      <p:sp>
        <p:nvSpPr>
          <p:cNvPr id="3" name="Shape 1"/>
          <p:cNvSpPr/>
          <p:nvPr/>
        </p:nvSpPr>
        <p:spPr>
          <a:xfrm>
            <a:off x="533387" y="1131193"/>
            <a:ext cx="3671200" cy="31651"/>
          </a:xfrm>
          <a:prstGeom prst="roundRect">
            <a:avLst>
              <a:gd name="adj" fmla="val 49998"/>
            </a:avLst>
          </a:prstGeom>
          <a:solidFill>
            <a:srgbClr val="704EA6"/>
          </a:solidFill>
          <a:ln/>
        </p:spPr>
      </p:sp>
      <p:sp>
        <p:nvSpPr>
          <p:cNvPr id="4" name="Shape 2"/>
          <p:cNvSpPr/>
          <p:nvPr/>
        </p:nvSpPr>
        <p:spPr>
          <a:xfrm>
            <a:off x="533387" y="1440755"/>
            <a:ext cx="5486263" cy="5112445"/>
          </a:xfrm>
          <a:prstGeom prst="roundRect">
            <a:avLst>
              <a:gd name="adj" fmla="val 1669"/>
            </a:avLst>
          </a:prstGeom>
          <a:solidFill>
            <a:srgbClr val="E9EBF5"/>
          </a:solidFill>
          <a:ln/>
        </p:spPr>
      </p:sp>
      <p:sp>
        <p:nvSpPr>
          <p:cNvPr id="5" name="Text 3"/>
          <p:cNvSpPr/>
          <p:nvPr/>
        </p:nvSpPr>
        <p:spPr>
          <a:xfrm>
            <a:off x="736582" y="1643955"/>
            <a:ext cx="5079873" cy="877491"/>
          </a:xfrm>
          <a:prstGeom prst="rect">
            <a:avLst/>
          </a:prstGeom>
          <a:noFill/>
          <a:ln/>
        </p:spPr>
        <p:txBody>
          <a:bodyPr wrap="square" lIns="0" tIns="0" rIns="0" bIns="0" rtlCol="0" anchor="t">
            <a:noAutofit/>
          </a:bodyPr>
          <a:lstStyle/>
          <a:p>
            <a:pPr marL="325120" indent="-325120" algn="l">
              <a:lnSpc>
                <a:spcPct val="90000"/>
              </a:lnSpc>
              <a:buSzPct val="100000"/>
              <a:buChar char="•"/>
            </a:pPr>
            <a:r>
              <a:rPr lang="en-US" dirty="0">
                <a:solidFill>
                  <a:srgbClr val="000000"/>
                </a:solidFill>
                <a:latin typeface="Inter" pitchFamily="34" charset="0"/>
                <a:ea typeface="Inter" pitchFamily="34" charset="-122"/>
                <a:cs typeface="Inter" pitchFamily="34" charset="-120"/>
              </a:rPr>
              <a:t>Built for the brief's pitfalls: semantic cache keys, one Action = one Screen, regex URL scrubbing, matching on descriptions, and programmatic word-count enforcement.</a:t>
            </a:r>
            <a:endParaRPr lang="en-US" dirty="0"/>
          </a:p>
        </p:txBody>
      </p:sp>
      <p:sp>
        <p:nvSpPr>
          <p:cNvPr id="6" name="Text 4"/>
          <p:cNvSpPr/>
          <p:nvPr/>
        </p:nvSpPr>
        <p:spPr>
          <a:xfrm>
            <a:off x="736582" y="2992239"/>
            <a:ext cx="5079873" cy="658118"/>
          </a:xfrm>
          <a:prstGeom prst="rect">
            <a:avLst/>
          </a:prstGeom>
          <a:noFill/>
          <a:ln/>
        </p:spPr>
        <p:txBody>
          <a:bodyPr wrap="square" lIns="0" tIns="0" rIns="0" bIns="0" rtlCol="0" anchor="t">
            <a:noAutofit/>
          </a:bodyPr>
          <a:lstStyle/>
          <a:p>
            <a:pPr marL="325120" indent="-325120" algn="l">
              <a:lnSpc>
                <a:spcPct val="90000"/>
              </a:lnSpc>
              <a:buSzPct val="100000"/>
              <a:buChar char="•"/>
            </a:pPr>
            <a:r>
              <a:rPr lang="en-US" dirty="0">
                <a:solidFill>
                  <a:srgbClr val="000000"/>
                </a:solidFill>
                <a:latin typeface="Inter" pitchFamily="34" charset="0"/>
                <a:ea typeface="Inter" pitchFamily="34" charset="-122"/>
                <a:cs typeface="Inter" pitchFamily="34" charset="-120"/>
              </a:rPr>
              <a:t>Runs fully offline in mock mode, with no API key needed for the cache and the deterministic stages.</a:t>
            </a:r>
            <a:endParaRPr lang="en-US" dirty="0"/>
          </a:p>
        </p:txBody>
      </p:sp>
      <p:sp>
        <p:nvSpPr>
          <p:cNvPr id="7" name="Text 5"/>
          <p:cNvSpPr/>
          <p:nvPr/>
        </p:nvSpPr>
        <p:spPr>
          <a:xfrm>
            <a:off x="736582" y="4121150"/>
            <a:ext cx="5079873" cy="1096863"/>
          </a:xfrm>
          <a:prstGeom prst="rect">
            <a:avLst/>
          </a:prstGeom>
          <a:noFill/>
          <a:ln/>
        </p:spPr>
        <p:txBody>
          <a:bodyPr wrap="square" lIns="0" tIns="0" rIns="0" bIns="0" rtlCol="0" anchor="t">
            <a:noAutofit/>
          </a:bodyPr>
          <a:lstStyle/>
          <a:p>
            <a:pPr marL="325120" indent="-325120" algn="l">
              <a:lnSpc>
                <a:spcPct val="90000"/>
              </a:lnSpc>
              <a:buSzPct val="100000"/>
              <a:buChar char="•"/>
            </a:pPr>
            <a:r>
              <a:rPr lang="en-US" dirty="0">
                <a:solidFill>
                  <a:srgbClr val="000000"/>
                </a:solidFill>
                <a:latin typeface="Inter" pitchFamily="34" charset="0"/>
                <a:ea typeface="Inter" pitchFamily="34" charset="-122"/>
                <a:cs typeface="Inter" pitchFamily="34" charset="-120"/>
              </a:rPr>
              <a:t>Honest engineering: bugs found and fixed are documented in the README, for example the false classification on non-screen complaints and the cache serving empty or wrong-article answers.</a:t>
            </a:r>
            <a:endParaRPr lang="en-US" dirty="0"/>
          </a:p>
        </p:txBody>
      </p:sp>
      <p:sp>
        <p:nvSpPr>
          <p:cNvPr id="8" name="Shape 6"/>
          <p:cNvSpPr/>
          <p:nvPr/>
        </p:nvSpPr>
        <p:spPr>
          <a:xfrm>
            <a:off x="6172046" y="1440755"/>
            <a:ext cx="5486263" cy="5112445"/>
          </a:xfrm>
          <a:prstGeom prst="roundRect">
            <a:avLst>
              <a:gd name="adj" fmla="val 1669"/>
            </a:avLst>
          </a:prstGeom>
          <a:solidFill>
            <a:srgbClr val="E9EBF5"/>
          </a:solidFill>
          <a:ln w="25399">
            <a:solidFill>
              <a:srgbClr val="C9C2D5"/>
            </a:solidFill>
            <a:prstDash val="solid"/>
          </a:ln>
        </p:spPr>
      </p:sp>
      <p:sp>
        <p:nvSpPr>
          <p:cNvPr id="9" name="Text 7"/>
          <p:cNvSpPr/>
          <p:nvPr/>
        </p:nvSpPr>
        <p:spPr>
          <a:xfrm>
            <a:off x="6400640" y="1669355"/>
            <a:ext cx="5029074" cy="438745"/>
          </a:xfrm>
          <a:prstGeom prst="rect">
            <a:avLst/>
          </a:prstGeom>
          <a:noFill/>
          <a:ln/>
        </p:spPr>
        <p:txBody>
          <a:bodyPr wrap="square" lIns="0" tIns="0" rIns="0" bIns="0" rtlCol="0" anchor="t">
            <a:noAutofit/>
          </a:bodyPr>
          <a:lstStyle/>
          <a:p>
            <a:pPr marL="325120" indent="-325120" algn="l">
              <a:lnSpc>
                <a:spcPct val="90000"/>
              </a:lnSpc>
              <a:buSzPct val="100000"/>
              <a:buChar char="•"/>
            </a:pPr>
            <a:r>
              <a:rPr lang="en-US" dirty="0">
                <a:solidFill>
                  <a:srgbClr val="000000"/>
                </a:solidFill>
                <a:latin typeface="Inter" pitchFamily="34" charset="0"/>
                <a:ea typeface="Inter" pitchFamily="34" charset="-122"/>
                <a:cs typeface="Inter" pitchFamily="34" charset="-120"/>
              </a:rPr>
              <a:t>Concurrency-safe cache, and a global error handler that never leaks a stack trace.</a:t>
            </a:r>
            <a:endParaRPr lang="en-US" dirty="0"/>
          </a:p>
        </p:txBody>
      </p:sp>
      <p:sp>
        <p:nvSpPr>
          <p:cNvPr id="10" name="Text 8"/>
          <p:cNvSpPr/>
          <p:nvPr/>
        </p:nvSpPr>
        <p:spPr>
          <a:xfrm>
            <a:off x="6400640" y="2578894"/>
            <a:ext cx="5029074" cy="658118"/>
          </a:xfrm>
          <a:prstGeom prst="rect">
            <a:avLst/>
          </a:prstGeom>
          <a:noFill/>
          <a:ln/>
        </p:spPr>
        <p:txBody>
          <a:bodyPr wrap="square" lIns="0" tIns="0" rIns="0" bIns="0" rtlCol="0" anchor="t">
            <a:noAutofit/>
          </a:bodyPr>
          <a:lstStyle/>
          <a:p>
            <a:pPr marL="325120" indent="-325120" algn="l">
              <a:lnSpc>
                <a:spcPct val="90000"/>
              </a:lnSpc>
              <a:buSzPct val="100000"/>
              <a:buChar char="•"/>
            </a:pPr>
            <a:r>
              <a:rPr lang="en-US" dirty="0">
                <a:solidFill>
                  <a:srgbClr val="000000"/>
                </a:solidFill>
                <a:latin typeface="Inter" pitchFamily="34" charset="0"/>
                <a:ea typeface="Inter" pitchFamily="34" charset="-122"/>
                <a:cs typeface="Inter" pitchFamily="34" charset="-120"/>
              </a:rPr>
              <a:t>Extras beyond the contract: /v1/enrich, /v1/cache/stats, and an enrichment debug block with confidence scores.</a:t>
            </a:r>
            <a:endParaRPr lang="en-US" dirty="0"/>
          </a:p>
        </p:txBody>
      </p:sp>
      <p:sp>
        <p:nvSpPr>
          <p:cNvPr id="11" name="Text 9"/>
          <p:cNvSpPr/>
          <p:nvPr/>
        </p:nvSpPr>
        <p:spPr>
          <a:xfrm>
            <a:off x="6400640" y="3707805"/>
            <a:ext cx="5029074" cy="658118"/>
          </a:xfrm>
          <a:prstGeom prst="rect">
            <a:avLst/>
          </a:prstGeom>
          <a:noFill/>
          <a:ln/>
        </p:spPr>
        <p:txBody>
          <a:bodyPr wrap="square" lIns="0" tIns="0" rIns="0" bIns="0" rtlCol="0" anchor="t">
            <a:noAutofit/>
          </a:bodyPr>
          <a:lstStyle/>
          <a:p>
            <a:pPr marL="325120" indent="-325120" algn="l">
              <a:lnSpc>
                <a:spcPct val="90000"/>
              </a:lnSpc>
              <a:buSzPct val="100000"/>
              <a:buChar char="•"/>
            </a:pPr>
            <a:r>
              <a:rPr lang="en-US" dirty="0">
                <a:solidFill>
                  <a:srgbClr val="000000"/>
                </a:solidFill>
                <a:latin typeface="Inter" pitchFamily="34" charset="0"/>
                <a:ea typeface="Inter" pitchFamily="34" charset="-122"/>
                <a:cs typeface="Inter" pitchFamily="34" charset="-120"/>
              </a:rPr>
              <a:t>One command to reproduce: generate_results.py, validate_results.py, eval_paraphrase_hits.py.</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156" name="Google Shape;156;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77800" lvl="0" indent="-177800" algn="l" rtl="0">
              <a:lnSpc>
                <a:spcPct val="90000"/>
              </a:lnSpc>
              <a:spcBef>
                <a:spcPts val="0"/>
              </a:spcBef>
              <a:spcAft>
                <a:spcPts val="0"/>
              </a:spcAft>
              <a:buClr>
                <a:srgbClr val="63637E"/>
              </a:buClr>
              <a:buSzPts val="2800"/>
              <a:buChar char="•"/>
            </a:pPr>
            <a:r>
              <a:rPr lang="en-US" sz="2800" dirty="0">
                <a:solidFill>
                  <a:srgbClr val="63637E"/>
                </a:solidFill>
                <a:latin typeface="Calibri"/>
                <a:ea typeface="Calibri"/>
                <a:cs typeface="Calibri"/>
                <a:sym typeface="Calibri"/>
              </a:rPr>
              <a:t>Working prototype code — public or shared GitHub repo (Y/N) -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README with reproducible setup instructions (Y/N) -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Demo video, max 5 minutes (YouTube or Drive link) -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Presentation file (PPT or PDF) (Y/N) - Y</a:t>
            </a:r>
            <a:endParaRPr sz="2800" dirty="0"/>
          </a:p>
          <a:p>
            <a:pPr marL="0" lvl="0" indent="0" algn="l" rtl="0">
              <a:lnSpc>
                <a:spcPct val="90000"/>
              </a:lnSpc>
              <a:spcBef>
                <a:spcPts val="1500"/>
              </a:spcBef>
              <a:spcAft>
                <a:spcPts val="0"/>
              </a:spcAft>
              <a:buClr>
                <a:schemeClr val="dk1"/>
              </a:buClr>
              <a:buSzPts val="280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1005903" y="2863941"/>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dirty="0">
                <a:solidFill>
                  <a:srgbClr val="14142B"/>
                </a:solidFill>
                <a:latin typeface="Arial"/>
                <a:ea typeface="Arial"/>
                <a:cs typeface="Arial"/>
                <a:sym typeface="Arial"/>
              </a:rPr>
              <a:t>Thank you</a:t>
            </a:r>
          </a:p>
        </p:txBody>
      </p:sp>
      <p:sp>
        <p:nvSpPr>
          <p:cNvPr id="163" name="Google Shape;163;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
        <p:nvSpPr>
          <p:cNvPr id="2" name="Google Shape;156;p11">
            <a:extLst>
              <a:ext uri="{FF2B5EF4-FFF2-40B4-BE49-F238E27FC236}">
                <a16:creationId xmlns:a16="http://schemas.microsoft.com/office/drawing/2014/main" id="{EB44D09B-EE18-2074-BA3E-DF895A4D0B83}"/>
              </a:ext>
            </a:extLst>
          </p:cNvPr>
          <p:cNvSpPr txBox="1">
            <a:spLocks/>
          </p:cNvSpPr>
          <p:nvPr/>
        </p:nvSpPr>
        <p:spPr>
          <a:xfrm>
            <a:off x="1005903" y="4082739"/>
            <a:ext cx="10929423" cy="146502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nSpc>
                <a:spcPct val="90000"/>
              </a:lnSpc>
              <a:buClr>
                <a:srgbClr val="63637E"/>
              </a:buClr>
              <a:buSzPts val="2800"/>
            </a:pPr>
            <a:r>
              <a:rPr lang="en-US" sz="1800" dirty="0">
                <a:solidFill>
                  <a:srgbClr val="63637E"/>
                </a:solidFill>
                <a:latin typeface="Calibri"/>
                <a:ea typeface="Calibri"/>
                <a:cs typeface="Calibri"/>
                <a:sym typeface="Calibri"/>
                <a:hlinkClick r:id="rId3"/>
              </a:rPr>
              <a:t>pa6535@srmist.edu.in</a:t>
            </a:r>
            <a:endParaRPr lang="en-US" sz="1800" dirty="0">
              <a:solidFill>
                <a:srgbClr val="63637E"/>
              </a:solidFill>
              <a:latin typeface="Calibri"/>
              <a:ea typeface="Calibri"/>
              <a:cs typeface="Calibri"/>
              <a:sym typeface="Calibri"/>
            </a:endParaRPr>
          </a:p>
          <a:p>
            <a:pPr>
              <a:lnSpc>
                <a:spcPct val="90000"/>
              </a:lnSpc>
              <a:buClr>
                <a:srgbClr val="63637E"/>
              </a:buClr>
              <a:buSzPts val="2800"/>
            </a:pPr>
            <a:endParaRPr lang="en-US" sz="1800" dirty="0">
              <a:solidFill>
                <a:srgbClr val="63637E"/>
              </a:solidFill>
              <a:latin typeface="Calibri"/>
              <a:ea typeface="Calibri"/>
              <a:cs typeface="Calibri"/>
              <a:sym typeface="Calibri"/>
            </a:endParaRPr>
          </a:p>
          <a:p>
            <a:pPr>
              <a:lnSpc>
                <a:spcPct val="90000"/>
              </a:lnSpc>
              <a:buClr>
                <a:srgbClr val="63637E"/>
              </a:buClr>
              <a:buSzPts val="2800"/>
            </a:pPr>
            <a:r>
              <a:rPr lang="en-US" sz="1800" dirty="0">
                <a:solidFill>
                  <a:srgbClr val="63637E"/>
                </a:solidFill>
                <a:latin typeface="Calibri"/>
                <a:ea typeface="Calibri"/>
                <a:cs typeface="Calibri"/>
                <a:sym typeface="Calibri"/>
                <a:hlinkClick r:id="rId4"/>
              </a:rPr>
              <a:t>https://docs.google.com/forms/d/e/1FAIpQLSd_WWF7mnEVUWV3eC-Ptc2PKeJ5Mt_422EknsfShKo_l1y3Og/viewform?edit2=2_ABaOnuenWDHxGAclXChZSHLoFlyEr9ohm8_h64DtXlPx3xwWv59VGoTGP7rUkO6eeZiLAV4</a:t>
            </a:r>
            <a:r>
              <a:rPr lang="en-US" sz="1800" dirty="0">
                <a:solidFill>
                  <a:srgbClr val="63637E"/>
                </a:solidFill>
                <a:latin typeface="Calibri"/>
                <a:ea typeface="Calibri"/>
                <a:cs typeface="Calibri"/>
                <a:sym typeface="Calibri"/>
              </a:rPr>
              <a:t> </a:t>
            </a:r>
          </a:p>
          <a:p>
            <a:pPr>
              <a:lnSpc>
                <a:spcPct val="90000"/>
              </a:lnSpc>
              <a:buClr>
                <a:srgbClr val="63637E"/>
              </a:buClr>
              <a:buSzPts val="2800"/>
            </a:pPr>
            <a:endParaRPr lang="en-US" sz="1800" dirty="0">
              <a:solidFill>
                <a:srgbClr val="63637E"/>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1581</Words>
  <Application>Microsoft Office PowerPoint</Application>
  <PresentationFormat>Widescreen</PresentationFormat>
  <Paragraphs>134</Paragraphs>
  <Slides>15</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Calibri</vt:lpstr>
      <vt:lpstr>Inter</vt:lpstr>
      <vt:lpstr>Poppins Bold</vt:lpstr>
      <vt:lpstr>Arial</vt:lpstr>
      <vt:lpstr>Inter SemiBold</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Checklist- Updated on Public GitHub</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PRISHA AGARWAL</cp:lastModifiedBy>
  <cp:revision>5</cp:revision>
  <dcterms:created xsi:type="dcterms:W3CDTF">2026-09-30T18:37:52Z</dcterms:created>
  <dcterms:modified xsi:type="dcterms:W3CDTF">2026-09-30T18:43:10Z</dcterms:modified>
</cp:coreProperties>
</file>